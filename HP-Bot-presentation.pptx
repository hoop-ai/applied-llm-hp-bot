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Malak. This is HP-Bot, a retrieval-augmented chatbot built on the dataset you provided. I'll walk through the architecture briefly, then give a live demo, and show the eval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had ten requirements. The hard ones are these six behavioral rules, which are all graded. The retrieval is two-stage: an exact-question cache that skips the LLM entirely on common questions, and a hybrid FAISS plus BM25 retrieval that picks context chunks for the LLM call. The critical constraint is that the bot uses only the instructor's data. If a question is not answerable from that corpus, it refuses, even when the LLM's training data knows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user message goes through four stages. First, a regex prefilter catches obvious jailbreaks and refuses without an API call. Second, the question is embedded and searched against Index A, which holds only the dataset's questions. If cosine similarity is above 0.85, we return the stored answer with zero API spend. Third, on a cache miss, Index B has every passage, and we blend 70% dense FAISS with 30% BM25 to pick the top-5 chunks. Fourth, those chunks plus memory plus the system prompt go to OpenRouter with a seven-model fallback chain ending in Claude Haiku so we never silently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file is src/prompts.py. Every behavioral rule from the brief is a numbered rule in the system prompt. The refusal string is quoted character-for-character so the model copies it. There's an anti-jailbreak framing at the top and the rules are repeated as a final reminder after the user message, which beats recency bias. Greetings have an explicit whitelist with canned replies so the bot can say hi without leaking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I'll switch to the app and run the demo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a 40-case adversarial suite covering all six rules. All 40 pass against your corpus. The runner is python -m tests.run_eval. There's also a smarter diagnostic that retries each case three times because free-tier models occasionally ignore temperature equals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hardest part was getting the exact refusal string right. Models love to write one dot or three. The fix was quoting the string verbatim in the prompt. Second-hardest was reconciling the greeting whitelist with the refuse-internals rule. I'd like to add per-query latency telemetry and find a way to lazy-load the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Everything's in the repo. The grading checklist is SUBMISSION.md, the full report is REPORT.md and HP-Bot-Report.docx.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E2C044"/>
          </a:solidFill>
          <a:ln/>
        </p:spPr>
      </p:sp>
      <p:sp>
        <p:nvSpPr>
          <p:cNvPr id="4" name="Shape 1"/>
          <p:cNvSpPr/>
          <p:nvPr/>
        </p:nvSpPr>
        <p:spPr>
          <a:xfrm>
            <a:off x="274320" y="274320"/>
            <a:ext cx="548640" cy="36576"/>
          </a:xfrm>
          <a:prstGeom prst="rect">
            <a:avLst/>
          </a:prstGeom>
          <a:solidFill>
            <a:srgbClr val="E2C044"/>
          </a:solidFill>
          <a:ln/>
        </p:spPr>
      </p:sp>
      <p:sp>
        <p:nvSpPr>
          <p:cNvPr id="5" name="Shape 2"/>
          <p:cNvSpPr/>
          <p:nvPr/>
        </p:nvSpPr>
        <p:spPr>
          <a:xfrm>
            <a:off x="274320" y="274320"/>
            <a:ext cx="36576" cy="548640"/>
          </a:xfrm>
          <a:prstGeom prst="rect">
            <a:avLst/>
          </a:prstGeom>
          <a:solidFill>
            <a:srgbClr val="E2C044"/>
          </a:solidFill>
          <a:ln/>
        </p:spPr>
      </p:sp>
      <p:sp>
        <p:nvSpPr>
          <p:cNvPr id="6" name="Shape 3"/>
          <p:cNvSpPr/>
          <p:nvPr/>
        </p:nvSpPr>
        <p:spPr>
          <a:xfrm>
            <a:off x="8321040" y="274320"/>
            <a:ext cx="548640" cy="36576"/>
          </a:xfrm>
          <a:prstGeom prst="rect">
            <a:avLst/>
          </a:prstGeom>
          <a:solidFill>
            <a:srgbClr val="E2C044"/>
          </a:solidFill>
          <a:ln/>
        </p:spPr>
      </p:sp>
      <p:sp>
        <p:nvSpPr>
          <p:cNvPr id="7" name="Shape 4"/>
          <p:cNvSpPr/>
          <p:nvPr/>
        </p:nvSpPr>
        <p:spPr>
          <a:xfrm>
            <a:off x="8833104" y="274320"/>
            <a:ext cx="36576" cy="548640"/>
          </a:xfrm>
          <a:prstGeom prst="rect">
            <a:avLst/>
          </a:prstGeom>
          <a:solidFill>
            <a:srgbClr val="E2C044"/>
          </a:solidFill>
          <a:ln/>
        </p:spPr>
      </p:sp>
      <p:sp>
        <p:nvSpPr>
          <p:cNvPr id="8" name="Text 5"/>
          <p:cNvSpPr/>
          <p:nvPr/>
        </p:nvSpPr>
        <p:spPr>
          <a:xfrm>
            <a:off x="457200" y="1645920"/>
            <a:ext cx="8229600" cy="1097280"/>
          </a:xfrm>
          <a:prstGeom prst="rect">
            <a:avLst/>
          </a:prstGeom>
          <a:noFill/>
          <a:ln/>
        </p:spPr>
        <p:txBody>
          <a:bodyPr wrap="square" rtlCol="0" anchor="ctr"/>
          <a:lstStyle/>
          <a:p>
            <a:pPr algn="ctr" indent="0" marL="0">
              <a:buNone/>
            </a:pPr>
            <a:r>
              <a:rPr lang="en-US" sz="5400" b="1" dirty="0">
                <a:solidFill>
                  <a:srgbClr val="E2C044"/>
                </a:solidFill>
                <a:latin typeface="Georgia" pitchFamily="34" charset="0"/>
                <a:ea typeface="Georgia" pitchFamily="34" charset="-122"/>
                <a:cs typeface="Georgia" pitchFamily="34" charset="-120"/>
              </a:rPr>
              <a:t>HP-Bot</a:t>
            </a:r>
            <a:endParaRPr lang="en-US" sz="5400" dirty="0"/>
          </a:p>
        </p:txBody>
      </p:sp>
      <p:sp>
        <p:nvSpPr>
          <p:cNvPr id="9" name="Shape 6"/>
          <p:cNvSpPr/>
          <p:nvPr/>
        </p:nvSpPr>
        <p:spPr>
          <a:xfrm>
            <a:off x="2926080" y="2834640"/>
            <a:ext cx="3291840" cy="36576"/>
          </a:xfrm>
          <a:prstGeom prst="rect">
            <a:avLst/>
          </a:prstGeom>
          <a:solidFill>
            <a:srgbClr val="E2C044"/>
          </a:solidFill>
          <a:ln/>
        </p:spPr>
      </p:sp>
      <p:sp>
        <p:nvSpPr>
          <p:cNvPr id="10" name="Text 7"/>
          <p:cNvSpPr/>
          <p:nvPr/>
        </p:nvSpPr>
        <p:spPr>
          <a:xfrm>
            <a:off x="457200" y="3108960"/>
            <a:ext cx="8229600" cy="640080"/>
          </a:xfrm>
          <a:prstGeom prst="rect">
            <a:avLst/>
          </a:prstGeom>
          <a:noFill/>
          <a:ln/>
        </p:spPr>
        <p:txBody>
          <a:bodyPr wrap="square" rtlCol="0" anchor="ctr"/>
          <a:lstStyle/>
          <a:p>
            <a:pPr algn="ctr" indent="0" marL="0">
              <a:buNone/>
            </a:pPr>
            <a:r>
              <a:rPr lang="en-US" sz="2000" dirty="0">
                <a:solidFill>
                  <a:srgbClr val="F5F0E8"/>
                </a:solidFill>
                <a:latin typeface="Calibri" pitchFamily="34" charset="0"/>
                <a:ea typeface="Calibri" pitchFamily="34" charset="-122"/>
                <a:cs typeface="Calibri" pitchFamily="34" charset="-120"/>
              </a:rPr>
              <a:t>A Retrieval-Augmented Harry Potter Chatbot</a:t>
            </a:r>
            <a:endParaRPr lang="en-US" sz="2000" dirty="0"/>
          </a:p>
        </p:txBody>
      </p:sp>
      <p:sp>
        <p:nvSpPr>
          <p:cNvPr id="11" name="Text 8"/>
          <p:cNvSpPr/>
          <p:nvPr/>
        </p:nvSpPr>
        <p:spPr>
          <a:xfrm>
            <a:off x="457200" y="6035040"/>
            <a:ext cx="8229600" cy="365760"/>
          </a:xfrm>
          <a:prstGeom prst="rect">
            <a:avLst/>
          </a:prstGeom>
          <a:noFill/>
          <a:ln/>
        </p:spPr>
        <p:txBody>
          <a:bodyPr wrap="square" rtlCol="0" anchor="ctr"/>
          <a:lstStyle/>
          <a:p>
            <a:pPr algn="ctr" indent="0" marL="0">
              <a:buNone/>
            </a:pPr>
            <a:r>
              <a:rPr lang="en-US" sz="1200" dirty="0">
                <a:solidFill>
                  <a:srgbClr val="F5F0E8"/>
                </a:solidFill>
                <a:latin typeface="Calibri" pitchFamily="34" charset="0"/>
                <a:ea typeface="Calibri" pitchFamily="34" charset="-122"/>
                <a:cs typeface="Calibri" pitchFamily="34" charset="-120"/>
              </a:rPr>
              <a:t>COP4921 Applied Large Language Models  |  Mr. Malak  |  May 2026</a:t>
            </a:r>
            <a:endParaRPr lang="en-US" sz="1200" dirty="0"/>
          </a:p>
        </p:txBody>
      </p:sp>
      <p:sp>
        <p:nvSpPr>
          <p:cNvPr id="12" name="Shape 9"/>
          <p:cNvSpPr/>
          <p:nvPr/>
        </p:nvSpPr>
        <p:spPr>
          <a:xfrm>
            <a:off x="0" y="6803136"/>
            <a:ext cx="9144000" cy="54864"/>
          </a:xfrm>
          <a:prstGeom prst="rect">
            <a:avLst/>
          </a:prstGeom>
          <a:solidFill>
            <a:srgbClr val="E2C044"/>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3" name="Shape 0"/>
          <p:cNvSpPr/>
          <p:nvPr/>
        </p:nvSpPr>
        <p:spPr>
          <a:xfrm>
            <a:off x="0" y="0"/>
            <a:ext cx="73152" cy="5143500"/>
          </a:xfrm>
          <a:prstGeom prst="rect">
            <a:avLst/>
          </a:prstGeom>
          <a:solidFill>
            <a:srgbClr val="E2C044"/>
          </a:solidFill>
          <a:ln/>
        </p:spPr>
      </p:sp>
      <p:sp>
        <p:nvSpPr>
          <p:cNvPr id="4" name="Text 1"/>
          <p:cNvSpPr/>
          <p:nvPr/>
        </p:nvSpPr>
        <p:spPr>
          <a:xfrm>
            <a:off x="457200" y="274320"/>
            <a:ext cx="7315200" cy="640080"/>
          </a:xfrm>
          <a:prstGeom prst="rect">
            <a:avLst/>
          </a:prstGeom>
          <a:noFill/>
          <a:ln/>
        </p:spPr>
        <p:txBody>
          <a:bodyPr wrap="square" rtlCol="0" anchor="ctr"/>
          <a:lstStyle/>
          <a:p>
            <a:pPr indent="0" marL="0">
              <a:buNone/>
            </a:pPr>
            <a:r>
              <a:rPr lang="en-US" sz="3600" b="1" dirty="0">
                <a:solidFill>
                  <a:srgbClr val="2D2D2D"/>
                </a:solidFill>
                <a:latin typeface="Georgia" pitchFamily="34" charset="0"/>
                <a:ea typeface="Georgia" pitchFamily="34" charset="-122"/>
                <a:cs typeface="Georgia" pitchFamily="34" charset="-120"/>
              </a:rPr>
              <a:t>What Was Asked</a:t>
            </a:r>
            <a:endParaRPr lang="en-US" sz="3600" dirty="0"/>
          </a:p>
        </p:txBody>
      </p:sp>
      <p:sp>
        <p:nvSpPr>
          <p:cNvPr id="5" name="Shape 2"/>
          <p:cNvSpPr/>
          <p:nvPr/>
        </p:nvSpPr>
        <p:spPr>
          <a:xfrm>
            <a:off x="457200" y="914400"/>
            <a:ext cx="2286000" cy="36576"/>
          </a:xfrm>
          <a:prstGeom prst="rect">
            <a:avLst/>
          </a:prstGeom>
          <a:solidFill>
            <a:srgbClr val="E2C044"/>
          </a:solidFill>
          <a:ln/>
        </p:spPr>
      </p:sp>
      <p:sp>
        <p:nvSpPr>
          <p:cNvPr id="6" name="Text 3"/>
          <p:cNvSpPr/>
          <p:nvPr/>
        </p:nvSpPr>
        <p:spPr>
          <a:xfrm>
            <a:off x="457200" y="1188720"/>
            <a:ext cx="3931920" cy="457200"/>
          </a:xfrm>
          <a:prstGeom prst="rect">
            <a:avLst/>
          </a:prstGeom>
          <a:noFill/>
          <a:ln/>
        </p:spPr>
        <p:txBody>
          <a:bodyPr wrap="square" rtlCol="0" anchor="ctr"/>
          <a:lstStyle/>
          <a:p>
            <a:pPr indent="0" marL="0">
              <a:buNone/>
            </a:pPr>
            <a:r>
              <a:rPr lang="en-US" sz="1800" b="1" dirty="0">
                <a:solidFill>
                  <a:srgbClr val="722F37"/>
                </a:solidFill>
                <a:latin typeface="Georgia" pitchFamily="34" charset="0"/>
                <a:ea typeface="Georgia" pitchFamily="34" charset="-122"/>
                <a:cs typeface="Georgia" pitchFamily="34" charset="-120"/>
              </a:rPr>
              <a:t>Six Behavioral Rules</a:t>
            </a:r>
            <a:endParaRPr lang="en-US" sz="1800" dirty="0"/>
          </a:p>
        </p:txBody>
      </p:sp>
      <p:sp>
        <p:nvSpPr>
          <p:cNvPr id="7" name="Shape 4"/>
          <p:cNvSpPr/>
          <p:nvPr/>
        </p:nvSpPr>
        <p:spPr>
          <a:xfrm>
            <a:off x="457200" y="1691640"/>
            <a:ext cx="3931920" cy="4389120"/>
          </a:xfrm>
          <a:prstGeom prst="rect">
            <a:avLst>
              <a:gd name="adj" fmla="val 1163"/>
            </a:avLst>
          </a:prstGeom>
          <a:solidFill>
            <a:srgbClr val="FFFFFF"/>
          </a:solidFill>
          <a:ln/>
          <a:effectLst>
            <a:outerShdw sx="100000" sy="100000" kx="0" ky="0" algn="bl" rotWithShape="0" blurRad="76200" dist="25400" dir="16200000">
              <a:srgbClr val="CCCCCC">
                <a:alpha val="40000"/>
              </a:srgbClr>
            </a:outerShdw>
          </a:effectLst>
        </p:spPr>
      </p:sp>
      <p:sp>
        <p:nvSpPr>
          <p:cNvPr id="8" name="Shape 5"/>
          <p:cNvSpPr/>
          <p:nvPr/>
        </p:nvSpPr>
        <p:spPr>
          <a:xfrm>
            <a:off x="457200" y="1691640"/>
            <a:ext cx="54864" cy="4389120"/>
          </a:xfrm>
          <a:prstGeom prst="rect">
            <a:avLst/>
          </a:prstGeom>
          <a:solidFill>
            <a:srgbClr val="722F37"/>
          </a:solidFill>
          <a:ln/>
        </p:spPr>
      </p:sp>
      <p:sp>
        <p:nvSpPr>
          <p:cNvPr id="9" name="Text 6"/>
          <p:cNvSpPr/>
          <p:nvPr/>
        </p:nvSpPr>
        <p:spPr>
          <a:xfrm>
            <a:off x="731520" y="1828800"/>
            <a:ext cx="3474720" cy="4114800"/>
          </a:xfrm>
          <a:prstGeom prst="rect">
            <a:avLst/>
          </a:prstGeom>
          <a:noFill/>
          <a:ln/>
        </p:spPr>
        <p:txBody>
          <a:bodyPr wrap="square" rtlCol="0" anchor="t"/>
          <a:lstStyle/>
          <a:p>
            <a:pPr marL="342900" indent="-342900">
              <a:spcAft>
                <a:spcPts val="1000"/>
              </a:spcAft>
              <a:buSzPct val="100000"/>
              <a:buChar char="•"/>
            </a:pPr>
            <a:r>
              <a:rPr lang="en-US" sz="1400" dirty="0">
                <a:solidFill>
                  <a:srgbClr val="2D2D2D"/>
                </a:solidFill>
                <a:latin typeface="Calibri" pitchFamily="34" charset="0"/>
                <a:ea typeface="Calibri" pitchFamily="34" charset="-122"/>
                <a:cs typeface="Calibri" pitchFamily="34" charset="-120"/>
              </a:rPr>
              <a:t>Refuse out-of-scope questions</a:t>
            </a:r>
            <a:endParaRPr lang="en-US" sz="1400" dirty="0"/>
          </a:p>
          <a:p>
            <a:pPr marL="342900" indent="-342900">
              <a:spcAft>
                <a:spcPts val="1000"/>
              </a:spcAft>
              <a:buSzPct val="100000"/>
              <a:buChar char="•"/>
            </a:pPr>
            <a:r>
              <a:rPr lang="en-US" sz="1400" dirty="0">
                <a:solidFill>
                  <a:srgbClr val="2D2D2D"/>
                </a:solidFill>
                <a:latin typeface="Calibri" pitchFamily="34" charset="0"/>
                <a:ea typeface="Calibri" pitchFamily="34" charset="-122"/>
                <a:cs typeface="Calibri" pitchFamily="34" charset="-120"/>
              </a:rPr>
              <a:t>Refuse out-of-knowledge (even if HP-related)</a:t>
            </a:r>
            <a:endParaRPr lang="en-US" sz="1400" dirty="0"/>
          </a:p>
          <a:p>
            <a:pPr marL="342900" indent="-342900">
              <a:spcAft>
                <a:spcPts val="1000"/>
              </a:spcAft>
              <a:buSzPct val="100000"/>
              <a:buChar char="•"/>
            </a:pPr>
            <a:r>
              <a:rPr lang="en-US" sz="1400" dirty="0">
                <a:solidFill>
                  <a:srgbClr val="2D2D2D"/>
                </a:solidFill>
                <a:latin typeface="Calibri" pitchFamily="34" charset="0"/>
                <a:ea typeface="Calibri" pitchFamily="34" charset="-122"/>
                <a:cs typeface="Calibri" pitchFamily="34" charset="-120"/>
              </a:rPr>
              <a:t>Allow greetings without leaking internals</a:t>
            </a:r>
            <a:endParaRPr lang="en-US" sz="1400" dirty="0"/>
          </a:p>
          <a:p>
            <a:pPr marL="342900" indent="-342900">
              <a:spcAft>
                <a:spcPts val="1000"/>
              </a:spcAft>
              <a:buSzPct val="100000"/>
              <a:buChar char="•"/>
            </a:pPr>
            <a:r>
              <a:rPr lang="en-US" sz="1400" dirty="0">
                <a:solidFill>
                  <a:srgbClr val="2D2D2D"/>
                </a:solidFill>
                <a:latin typeface="Calibri" pitchFamily="34" charset="0"/>
                <a:ea typeface="Calibri" pitchFamily="34" charset="-122"/>
                <a:cs typeface="Calibri" pitchFamily="34" charset="-120"/>
              </a:rPr>
              <a:t>Resist jailbreaks and prompt injection</a:t>
            </a:r>
            <a:endParaRPr lang="en-US" sz="1400" dirty="0"/>
          </a:p>
          <a:p>
            <a:pPr marL="342900" indent="-342900">
              <a:spcAft>
                <a:spcPts val="1000"/>
              </a:spcAft>
              <a:buSzPct val="100000"/>
              <a:buChar char="•"/>
            </a:pPr>
            <a:r>
              <a:rPr lang="en-US" sz="1400" dirty="0">
                <a:solidFill>
                  <a:srgbClr val="2D2D2D"/>
                </a:solidFill>
                <a:latin typeface="Calibri" pitchFamily="34" charset="0"/>
                <a:ea typeface="Calibri" pitchFamily="34" charset="-122"/>
                <a:cs typeface="Calibri" pitchFamily="34" charset="-120"/>
              </a:rPr>
              <a:t>Remember context for follow-up questions</a:t>
            </a:r>
            <a:endParaRPr lang="en-US" sz="1400" dirty="0"/>
          </a:p>
          <a:p>
            <a:pPr marL="342900" indent="-342900">
              <a:spcAft>
                <a:spcPts val="1000"/>
              </a:spcAft>
              <a:buSzPct val="100000"/>
              <a:buChar char="•"/>
            </a:pPr>
            <a:r>
              <a:rPr lang="en-US" sz="1400" dirty="0">
                <a:solidFill>
                  <a:srgbClr val="2D2D2D"/>
                </a:solidFill>
                <a:latin typeface="Calibri" pitchFamily="34" charset="0"/>
                <a:ea typeface="Calibri" pitchFamily="34" charset="-122"/>
                <a:cs typeface="Calibri" pitchFamily="34" charset="-120"/>
              </a:rPr>
              <a:t>Ignore format/style manipulation</a:t>
            </a:r>
            <a:endParaRPr lang="en-US" sz="1400" dirty="0"/>
          </a:p>
        </p:txBody>
      </p:sp>
      <p:sp>
        <p:nvSpPr>
          <p:cNvPr id="10" name="Text 7"/>
          <p:cNvSpPr/>
          <p:nvPr/>
        </p:nvSpPr>
        <p:spPr>
          <a:xfrm>
            <a:off x="4754880" y="1188720"/>
            <a:ext cx="3931920" cy="457200"/>
          </a:xfrm>
          <a:prstGeom prst="rect">
            <a:avLst/>
          </a:prstGeom>
          <a:noFill/>
          <a:ln/>
        </p:spPr>
        <p:txBody>
          <a:bodyPr wrap="square" rtlCol="0" anchor="ctr"/>
          <a:lstStyle/>
          <a:p>
            <a:pPr indent="0" marL="0">
              <a:buNone/>
            </a:pPr>
            <a:r>
              <a:rPr lang="en-US" sz="1800" b="1" dirty="0">
                <a:solidFill>
                  <a:srgbClr val="722F37"/>
                </a:solidFill>
                <a:latin typeface="Georgia" pitchFamily="34" charset="0"/>
                <a:ea typeface="Georgia" pitchFamily="34" charset="-122"/>
                <a:cs typeface="Georgia" pitchFamily="34" charset="-120"/>
              </a:rPr>
              <a:t>Two-Stage Retrieval</a:t>
            </a:r>
            <a:endParaRPr lang="en-US" sz="1800" dirty="0"/>
          </a:p>
        </p:txBody>
      </p:sp>
      <p:sp>
        <p:nvSpPr>
          <p:cNvPr id="11" name="Shape 8"/>
          <p:cNvSpPr/>
          <p:nvPr/>
        </p:nvSpPr>
        <p:spPr>
          <a:xfrm>
            <a:off x="4754880" y="1691640"/>
            <a:ext cx="3931920" cy="4389120"/>
          </a:xfrm>
          <a:prstGeom prst="rect">
            <a:avLst>
              <a:gd name="adj" fmla="val 1163"/>
            </a:avLst>
          </a:prstGeom>
          <a:solidFill>
            <a:srgbClr val="FFFFFF"/>
          </a:solidFill>
          <a:ln/>
          <a:effectLst>
            <a:outerShdw sx="100000" sy="100000" kx="0" ky="0" algn="bl" rotWithShape="0" blurRad="76200" dist="25400" dir="16200000">
              <a:srgbClr val="CCCCCC">
                <a:alpha val="40000"/>
              </a:srgbClr>
            </a:outerShdw>
          </a:effectLst>
        </p:spPr>
      </p:sp>
      <p:sp>
        <p:nvSpPr>
          <p:cNvPr id="12" name="Shape 9"/>
          <p:cNvSpPr/>
          <p:nvPr/>
        </p:nvSpPr>
        <p:spPr>
          <a:xfrm>
            <a:off x="4754880" y="1691640"/>
            <a:ext cx="54864" cy="4389120"/>
          </a:xfrm>
          <a:prstGeom prst="rect">
            <a:avLst/>
          </a:prstGeom>
          <a:solidFill>
            <a:srgbClr val="E2C044"/>
          </a:solidFill>
          <a:ln/>
        </p:spPr>
      </p:sp>
      <p:sp>
        <p:nvSpPr>
          <p:cNvPr id="13" name="Text 10"/>
          <p:cNvSpPr/>
          <p:nvPr/>
        </p:nvSpPr>
        <p:spPr>
          <a:xfrm>
            <a:off x="5029200" y="1828800"/>
            <a:ext cx="3474720" cy="4114800"/>
          </a:xfrm>
          <a:prstGeom prst="rect">
            <a:avLst/>
          </a:prstGeom>
          <a:noFill/>
          <a:ln/>
        </p:spPr>
        <p:txBody>
          <a:bodyPr wrap="square" rtlCol="0" anchor="t"/>
          <a:lstStyle/>
          <a:p>
            <a:pPr marL="342900" indent="-342900">
              <a:spcAft>
                <a:spcPts val="1000"/>
              </a:spcAft>
              <a:buSzPct val="100000"/>
              <a:buChar char="•"/>
            </a:pPr>
            <a:r>
              <a:rPr lang="en-US" sz="1400" dirty="0">
                <a:solidFill>
                  <a:srgbClr val="2D2D2D"/>
                </a:solidFill>
                <a:latin typeface="Calibri" pitchFamily="34" charset="0"/>
                <a:ea typeface="Calibri" pitchFamily="34" charset="-122"/>
                <a:cs typeface="Calibri" pitchFamily="34" charset="-120"/>
              </a:rPr>
              <a:t>Question-cache skips LLM on exact matches</a:t>
            </a:r>
            <a:endParaRPr lang="en-US" sz="1400" dirty="0"/>
          </a:p>
          <a:p>
            <a:pPr marL="342900" indent="-342900">
              <a:spcAft>
                <a:spcPts val="1000"/>
              </a:spcAft>
              <a:buSzPct val="100000"/>
              <a:buChar char="•"/>
            </a:pPr>
            <a:r>
              <a:rPr lang="en-US" sz="1400" dirty="0">
                <a:solidFill>
                  <a:srgbClr val="2D2D2D"/>
                </a:solidFill>
                <a:latin typeface="Calibri" pitchFamily="34" charset="0"/>
                <a:ea typeface="Calibri" pitchFamily="34" charset="-122"/>
                <a:cs typeface="Calibri" pitchFamily="34" charset="-120"/>
              </a:rPr>
              <a:t>Full-data retrieval with hybrid scoring</a:t>
            </a:r>
            <a:endParaRPr lang="en-US" sz="1400" dirty="0"/>
          </a:p>
          <a:p>
            <a:pPr marL="342900" indent="-342900">
              <a:spcAft>
                <a:spcPts val="1000"/>
              </a:spcAft>
              <a:buSzPct val="100000"/>
              <a:buChar char="•"/>
            </a:pPr>
            <a:r>
              <a:rPr lang="en-US" sz="1400" dirty="0">
                <a:solidFill>
                  <a:srgbClr val="2D2D2D"/>
                </a:solidFill>
                <a:latin typeface="Calibri" pitchFamily="34" charset="0"/>
                <a:ea typeface="Calibri" pitchFamily="34" charset="-122"/>
                <a:cs typeface="Calibri" pitchFamily="34" charset="-120"/>
              </a:rPr>
              <a:t>Only instructor's dataset, no parametric leakage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457200" y="274320"/>
            <a:ext cx="7315200" cy="640080"/>
          </a:xfrm>
          <a:prstGeom prst="rect">
            <a:avLst/>
          </a:prstGeom>
          <a:noFill/>
          <a:ln/>
        </p:spPr>
        <p:txBody>
          <a:bodyPr wrap="square" rtlCol="0" anchor="ctr"/>
          <a:lstStyle/>
          <a:p>
            <a:pPr indent="0" marL="0">
              <a:buNone/>
            </a:pPr>
            <a:r>
              <a:rPr lang="en-US" sz="3600" b="1" dirty="0">
                <a:solidFill>
                  <a:srgbClr val="2D2D2D"/>
                </a:solidFill>
                <a:latin typeface="Georgia" pitchFamily="34" charset="0"/>
                <a:ea typeface="Georgia" pitchFamily="34" charset="-122"/>
                <a:cs typeface="Georgia" pitchFamily="34" charset="-120"/>
              </a:rPr>
              <a:t>How It Works</a:t>
            </a:r>
            <a:endParaRPr lang="en-US" sz="3600" dirty="0"/>
          </a:p>
        </p:txBody>
      </p:sp>
      <p:sp>
        <p:nvSpPr>
          <p:cNvPr id="4" name="Shape 1"/>
          <p:cNvSpPr/>
          <p:nvPr/>
        </p:nvSpPr>
        <p:spPr>
          <a:xfrm>
            <a:off x="457200" y="914400"/>
            <a:ext cx="1828800" cy="36576"/>
          </a:xfrm>
          <a:prstGeom prst="rect">
            <a:avLst/>
          </a:prstGeom>
          <a:solidFill>
            <a:srgbClr val="E2C044"/>
          </a:solidFill>
          <a:ln/>
        </p:spPr>
      </p:sp>
      <p:sp>
        <p:nvSpPr>
          <p:cNvPr id="5" name="Shape 2"/>
          <p:cNvSpPr/>
          <p:nvPr/>
        </p:nvSpPr>
        <p:spPr>
          <a:xfrm>
            <a:off x="2194560" y="2363724"/>
            <a:ext cx="6035040" cy="27432"/>
          </a:xfrm>
          <a:prstGeom prst="rect">
            <a:avLst/>
          </a:prstGeom>
          <a:solidFill>
            <a:srgbClr val="E2C044"/>
          </a:solidFill>
          <a:ln/>
        </p:spPr>
      </p:sp>
      <p:sp>
        <p:nvSpPr>
          <p:cNvPr id="6" name="Shape 3"/>
          <p:cNvSpPr/>
          <p:nvPr/>
        </p:nvSpPr>
        <p:spPr>
          <a:xfrm>
            <a:off x="502920" y="1691640"/>
            <a:ext cx="1737360" cy="1463040"/>
          </a:xfrm>
          <a:prstGeom prst="rect">
            <a:avLst>
              <a:gd name="adj" fmla="val 5000"/>
            </a:avLst>
          </a:prstGeom>
          <a:solidFill>
            <a:srgbClr val="BBBBBB"/>
          </a:solidFill>
          <a:ln/>
        </p:spPr>
      </p:sp>
      <p:sp>
        <p:nvSpPr>
          <p:cNvPr id="7" name="Shape 4"/>
          <p:cNvSpPr/>
          <p:nvPr/>
        </p:nvSpPr>
        <p:spPr>
          <a:xfrm>
            <a:off x="457200" y="1645920"/>
            <a:ext cx="1737360" cy="1463040"/>
          </a:xfrm>
          <a:prstGeom prst="rect">
            <a:avLst>
              <a:gd name="adj" fmla="val 5000"/>
            </a:avLst>
          </a:prstGeom>
          <a:solidFill>
            <a:srgbClr val="722F37"/>
          </a:solidFill>
          <a:ln/>
        </p:spPr>
      </p:sp>
      <p:sp>
        <p:nvSpPr>
          <p:cNvPr id="8" name="Text 5"/>
          <p:cNvSpPr/>
          <p:nvPr/>
        </p:nvSpPr>
        <p:spPr>
          <a:xfrm>
            <a:off x="457200" y="1828800"/>
            <a:ext cx="173736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Guard</a:t>
            </a:r>
            <a:endParaRPr lang="en-US" sz="2200" dirty="0"/>
          </a:p>
        </p:txBody>
      </p:sp>
      <p:sp>
        <p:nvSpPr>
          <p:cNvPr id="9" name="Text 6"/>
          <p:cNvSpPr/>
          <p:nvPr/>
        </p:nvSpPr>
        <p:spPr>
          <a:xfrm>
            <a:off x="548640" y="2423160"/>
            <a:ext cx="1554480" cy="594360"/>
          </a:xfrm>
          <a:prstGeom prst="rect">
            <a:avLst/>
          </a:prstGeom>
          <a:noFill/>
          <a:ln/>
        </p:spPr>
        <p:txBody>
          <a:bodyPr wrap="square"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Regex jailbreak filter</a:t>
            </a:r>
            <a:endParaRPr lang="en-US" sz="1100" dirty="0"/>
          </a:p>
        </p:txBody>
      </p:sp>
      <p:sp>
        <p:nvSpPr>
          <p:cNvPr id="10" name="Text 7"/>
          <p:cNvSpPr/>
          <p:nvPr/>
        </p:nvSpPr>
        <p:spPr>
          <a:xfrm>
            <a:off x="2240280" y="2103120"/>
            <a:ext cx="320040" cy="457200"/>
          </a:xfrm>
          <a:prstGeom prst="rect">
            <a:avLst/>
          </a:prstGeom>
          <a:noFill/>
          <a:ln/>
        </p:spPr>
        <p:txBody>
          <a:bodyPr wrap="square" rtlCol="0" anchor="ctr"/>
          <a:lstStyle/>
          <a:p>
            <a:pPr algn="ctr" indent="0" marL="0">
              <a:buNone/>
            </a:pPr>
            <a:r>
              <a:rPr lang="en-US" sz="2000" dirty="0">
                <a:solidFill>
                  <a:srgbClr val="E2C044"/>
                </a:solidFill>
                <a:latin typeface="Calibri" pitchFamily="34" charset="0"/>
                <a:ea typeface="Calibri" pitchFamily="34" charset="-122"/>
                <a:cs typeface="Calibri" pitchFamily="34" charset="-120"/>
              </a:rPr>
              <a:t>▶</a:t>
            </a:r>
            <a:endParaRPr lang="en-US" sz="2000" dirty="0"/>
          </a:p>
        </p:txBody>
      </p:sp>
      <p:sp>
        <p:nvSpPr>
          <p:cNvPr id="11" name="Text 8"/>
          <p:cNvSpPr/>
          <p:nvPr/>
        </p:nvSpPr>
        <p:spPr>
          <a:xfrm>
            <a:off x="320040" y="3246120"/>
            <a:ext cx="2011680" cy="548640"/>
          </a:xfrm>
          <a:prstGeom prst="rect">
            <a:avLst/>
          </a:prstGeom>
          <a:noFill/>
          <a:ln/>
        </p:spPr>
        <p:txBody>
          <a:bodyPr wrap="square" rtlCol="0" anchor="t"/>
          <a:lstStyle/>
          <a:p>
            <a:pPr algn="ctr" indent="0" marL="0">
              <a:buNone/>
            </a:pPr>
            <a:r>
              <a:rPr lang="en-US" sz="1000" i="1" dirty="0">
                <a:solidFill>
                  <a:srgbClr val="888888"/>
                </a:solidFill>
                <a:latin typeface="Calibri" pitchFamily="34" charset="0"/>
                <a:ea typeface="Calibri" pitchFamily="34" charset="-122"/>
                <a:cs typeface="Calibri" pitchFamily="34" charset="-120"/>
              </a:rPr>
              <a:t>Jailbreak? → Refuse (no API)</a:t>
            </a:r>
            <a:endParaRPr lang="en-US" sz="1000" dirty="0"/>
          </a:p>
        </p:txBody>
      </p:sp>
      <p:sp>
        <p:nvSpPr>
          <p:cNvPr id="12" name="Shape 9"/>
          <p:cNvSpPr/>
          <p:nvPr/>
        </p:nvSpPr>
        <p:spPr>
          <a:xfrm>
            <a:off x="2651760" y="1691640"/>
            <a:ext cx="1737360" cy="1463040"/>
          </a:xfrm>
          <a:prstGeom prst="rect">
            <a:avLst>
              <a:gd name="adj" fmla="val 5000"/>
            </a:avLst>
          </a:prstGeom>
          <a:solidFill>
            <a:srgbClr val="BBBBBB"/>
          </a:solidFill>
          <a:ln/>
        </p:spPr>
      </p:sp>
      <p:sp>
        <p:nvSpPr>
          <p:cNvPr id="13" name="Shape 10"/>
          <p:cNvSpPr/>
          <p:nvPr/>
        </p:nvSpPr>
        <p:spPr>
          <a:xfrm>
            <a:off x="2606040" y="1645920"/>
            <a:ext cx="1737360" cy="1463040"/>
          </a:xfrm>
          <a:prstGeom prst="rect">
            <a:avLst>
              <a:gd name="adj" fmla="val 5000"/>
            </a:avLst>
          </a:prstGeom>
          <a:solidFill>
            <a:srgbClr val="E2C044"/>
          </a:solidFill>
          <a:ln/>
        </p:spPr>
      </p:sp>
      <p:sp>
        <p:nvSpPr>
          <p:cNvPr id="14" name="Text 11"/>
          <p:cNvSpPr/>
          <p:nvPr/>
        </p:nvSpPr>
        <p:spPr>
          <a:xfrm>
            <a:off x="2606040" y="1828800"/>
            <a:ext cx="1737360" cy="548640"/>
          </a:xfrm>
          <a:prstGeom prst="rect">
            <a:avLst/>
          </a:prstGeom>
          <a:noFill/>
          <a:ln/>
        </p:spPr>
        <p:txBody>
          <a:bodyPr wrap="square" rtlCol="0" anchor="ctr"/>
          <a:lstStyle/>
          <a:p>
            <a:pPr algn="ctr" indent="0" marL="0">
              <a:buNone/>
            </a:pPr>
            <a:r>
              <a:rPr lang="en-US" sz="2200" b="1" dirty="0">
                <a:solidFill>
                  <a:srgbClr val="2D2D2D"/>
                </a:solidFill>
                <a:latin typeface="Georgia" pitchFamily="34" charset="0"/>
                <a:ea typeface="Georgia" pitchFamily="34" charset="-122"/>
                <a:cs typeface="Georgia" pitchFamily="34" charset="-120"/>
              </a:rPr>
              <a:t>Index A</a:t>
            </a:r>
            <a:endParaRPr lang="en-US" sz="2200" dirty="0"/>
          </a:p>
        </p:txBody>
      </p:sp>
      <p:sp>
        <p:nvSpPr>
          <p:cNvPr id="15" name="Text 12"/>
          <p:cNvSpPr/>
          <p:nvPr/>
        </p:nvSpPr>
        <p:spPr>
          <a:xfrm>
            <a:off x="2697480" y="2423160"/>
            <a:ext cx="1554480" cy="594360"/>
          </a:xfrm>
          <a:prstGeom prst="rect">
            <a:avLst/>
          </a:prstGeom>
          <a:noFill/>
          <a:ln/>
        </p:spPr>
        <p:txBody>
          <a:bodyPr wrap="square" rtlCol="0" anchor="t"/>
          <a:lstStyle/>
          <a:p>
            <a:pPr algn="ctr" indent="0" marL="0">
              <a:buNone/>
            </a:pPr>
            <a:r>
              <a:rPr lang="en-US" sz="1100" dirty="0">
                <a:solidFill>
                  <a:srgbClr val="2D2D2D"/>
                </a:solidFill>
                <a:latin typeface="Calibri" pitchFamily="34" charset="0"/>
                <a:ea typeface="Calibri" pitchFamily="34" charset="-122"/>
                <a:cs typeface="Calibri" pitchFamily="34" charset="-120"/>
              </a:rPr>
              <a:t>Question cache</a:t>
            </a:r>
            <a:endParaRPr lang="en-US" sz="1100" dirty="0"/>
          </a:p>
          <a:p>
            <a:pPr algn="ctr" indent="0" marL="0">
              <a:buNone/>
            </a:pPr>
            <a:r>
              <a:rPr lang="en-US" sz="1100" dirty="0">
                <a:solidFill>
                  <a:srgbClr val="2D2D2D"/>
                </a:solidFill>
                <a:latin typeface="Calibri" pitchFamily="34" charset="0"/>
                <a:ea typeface="Calibri" pitchFamily="34" charset="-122"/>
                <a:cs typeface="Calibri" pitchFamily="34" charset="-120"/>
              </a:rPr>
              <a:t>(cosine ≥ 0.85)</a:t>
            </a:r>
            <a:endParaRPr lang="en-US" sz="1100" dirty="0"/>
          </a:p>
        </p:txBody>
      </p:sp>
      <p:sp>
        <p:nvSpPr>
          <p:cNvPr id="16" name="Text 13"/>
          <p:cNvSpPr/>
          <p:nvPr/>
        </p:nvSpPr>
        <p:spPr>
          <a:xfrm>
            <a:off x="4389120" y="2103120"/>
            <a:ext cx="320040" cy="457200"/>
          </a:xfrm>
          <a:prstGeom prst="rect">
            <a:avLst/>
          </a:prstGeom>
          <a:noFill/>
          <a:ln/>
        </p:spPr>
        <p:txBody>
          <a:bodyPr wrap="square" rtlCol="0" anchor="ctr"/>
          <a:lstStyle/>
          <a:p>
            <a:pPr algn="ctr" indent="0" marL="0">
              <a:buNone/>
            </a:pPr>
            <a:r>
              <a:rPr lang="en-US" sz="2000" dirty="0">
                <a:solidFill>
                  <a:srgbClr val="E2C044"/>
                </a:solidFill>
                <a:latin typeface="Calibri" pitchFamily="34" charset="0"/>
                <a:ea typeface="Calibri" pitchFamily="34" charset="-122"/>
                <a:cs typeface="Calibri" pitchFamily="34" charset="-120"/>
              </a:rPr>
              <a:t>▶</a:t>
            </a:r>
            <a:endParaRPr lang="en-US" sz="2000" dirty="0"/>
          </a:p>
        </p:txBody>
      </p:sp>
      <p:sp>
        <p:nvSpPr>
          <p:cNvPr id="17" name="Text 14"/>
          <p:cNvSpPr/>
          <p:nvPr/>
        </p:nvSpPr>
        <p:spPr>
          <a:xfrm>
            <a:off x="2468880" y="3246120"/>
            <a:ext cx="2011680" cy="548640"/>
          </a:xfrm>
          <a:prstGeom prst="rect">
            <a:avLst/>
          </a:prstGeom>
          <a:noFill/>
          <a:ln/>
        </p:spPr>
        <p:txBody>
          <a:bodyPr wrap="square" rtlCol="0" anchor="t"/>
          <a:lstStyle/>
          <a:p>
            <a:pPr algn="ctr" indent="0" marL="0">
              <a:buNone/>
            </a:pPr>
            <a:r>
              <a:rPr lang="en-US" sz="1000" i="1" dirty="0">
                <a:solidFill>
                  <a:srgbClr val="888888"/>
                </a:solidFill>
                <a:latin typeface="Calibri" pitchFamily="34" charset="0"/>
                <a:ea typeface="Calibri" pitchFamily="34" charset="-122"/>
                <a:cs typeface="Calibri" pitchFamily="34" charset="-120"/>
              </a:rPr>
              <a:t>Cache hit? → Return answer (no API)</a:t>
            </a:r>
            <a:endParaRPr lang="en-US" sz="1000" dirty="0"/>
          </a:p>
        </p:txBody>
      </p:sp>
      <p:sp>
        <p:nvSpPr>
          <p:cNvPr id="18" name="Shape 15"/>
          <p:cNvSpPr/>
          <p:nvPr/>
        </p:nvSpPr>
        <p:spPr>
          <a:xfrm>
            <a:off x="4800600" y="1691640"/>
            <a:ext cx="1737360" cy="1463040"/>
          </a:xfrm>
          <a:prstGeom prst="rect">
            <a:avLst>
              <a:gd name="adj" fmla="val 5000"/>
            </a:avLst>
          </a:prstGeom>
          <a:solidFill>
            <a:srgbClr val="BBBBBB"/>
          </a:solidFill>
          <a:ln/>
        </p:spPr>
      </p:sp>
      <p:sp>
        <p:nvSpPr>
          <p:cNvPr id="19" name="Shape 16"/>
          <p:cNvSpPr/>
          <p:nvPr/>
        </p:nvSpPr>
        <p:spPr>
          <a:xfrm>
            <a:off x="4754880" y="1645920"/>
            <a:ext cx="1737360" cy="1463040"/>
          </a:xfrm>
          <a:prstGeom prst="rect">
            <a:avLst>
              <a:gd name="adj" fmla="val 5000"/>
            </a:avLst>
          </a:prstGeom>
          <a:solidFill>
            <a:srgbClr val="1A1A2E"/>
          </a:solidFill>
          <a:ln/>
        </p:spPr>
      </p:sp>
      <p:sp>
        <p:nvSpPr>
          <p:cNvPr id="20" name="Text 17"/>
          <p:cNvSpPr/>
          <p:nvPr/>
        </p:nvSpPr>
        <p:spPr>
          <a:xfrm>
            <a:off x="4754880" y="1828800"/>
            <a:ext cx="1737360" cy="548640"/>
          </a:xfrm>
          <a:prstGeom prst="rect">
            <a:avLst/>
          </a:prstGeom>
          <a:noFill/>
          <a:ln/>
        </p:spPr>
        <p:txBody>
          <a:bodyPr wrap="square" rtlCol="0" anchor="ctr"/>
          <a:lstStyle/>
          <a:p>
            <a:pPr algn="ctr" indent="0" marL="0">
              <a:buNone/>
            </a:pPr>
            <a:r>
              <a:rPr lang="en-US" sz="2200" b="1" dirty="0">
                <a:solidFill>
                  <a:srgbClr val="F5F0E8"/>
                </a:solidFill>
                <a:latin typeface="Georgia" pitchFamily="34" charset="0"/>
                <a:ea typeface="Georgia" pitchFamily="34" charset="-122"/>
                <a:cs typeface="Georgia" pitchFamily="34" charset="-120"/>
              </a:rPr>
              <a:t>Index B</a:t>
            </a:r>
            <a:endParaRPr lang="en-US" sz="2200" dirty="0"/>
          </a:p>
        </p:txBody>
      </p:sp>
      <p:sp>
        <p:nvSpPr>
          <p:cNvPr id="21" name="Text 18"/>
          <p:cNvSpPr/>
          <p:nvPr/>
        </p:nvSpPr>
        <p:spPr>
          <a:xfrm>
            <a:off x="4846320" y="2423160"/>
            <a:ext cx="1554480" cy="594360"/>
          </a:xfrm>
          <a:prstGeom prst="rect">
            <a:avLst/>
          </a:prstGeom>
          <a:noFill/>
          <a:ln/>
        </p:spPr>
        <p:txBody>
          <a:bodyPr wrap="square" rtlCol="0" anchor="t"/>
          <a:lstStyle/>
          <a:p>
            <a:pPr algn="ctr" indent="0" marL="0">
              <a:buNone/>
            </a:pPr>
            <a:r>
              <a:rPr lang="en-US" sz="1100" dirty="0">
                <a:solidFill>
                  <a:srgbClr val="F5F0E8"/>
                </a:solidFill>
                <a:latin typeface="Calibri" pitchFamily="34" charset="0"/>
                <a:ea typeface="Calibri" pitchFamily="34" charset="-122"/>
                <a:cs typeface="Calibri" pitchFamily="34" charset="-120"/>
              </a:rPr>
              <a:t>Hybrid: 70% dense</a:t>
            </a:r>
            <a:endParaRPr lang="en-US" sz="1100" dirty="0"/>
          </a:p>
          <a:p>
            <a:pPr algn="ctr" indent="0" marL="0">
              <a:buNone/>
            </a:pPr>
            <a:r>
              <a:rPr lang="en-US" sz="1100" dirty="0">
                <a:solidFill>
                  <a:srgbClr val="F5F0E8"/>
                </a:solidFill>
                <a:latin typeface="Calibri" pitchFamily="34" charset="0"/>
                <a:ea typeface="Calibri" pitchFamily="34" charset="-122"/>
                <a:cs typeface="Calibri" pitchFamily="34" charset="-120"/>
              </a:rPr>
              <a:t>+ 30% BM25</a:t>
            </a:r>
            <a:endParaRPr lang="en-US" sz="1100" dirty="0"/>
          </a:p>
        </p:txBody>
      </p:sp>
      <p:sp>
        <p:nvSpPr>
          <p:cNvPr id="22" name="Text 19"/>
          <p:cNvSpPr/>
          <p:nvPr/>
        </p:nvSpPr>
        <p:spPr>
          <a:xfrm>
            <a:off x="6537960" y="2103120"/>
            <a:ext cx="320040" cy="457200"/>
          </a:xfrm>
          <a:prstGeom prst="rect">
            <a:avLst/>
          </a:prstGeom>
          <a:noFill/>
          <a:ln/>
        </p:spPr>
        <p:txBody>
          <a:bodyPr wrap="square" rtlCol="0" anchor="ctr"/>
          <a:lstStyle/>
          <a:p>
            <a:pPr algn="ctr" indent="0" marL="0">
              <a:buNone/>
            </a:pPr>
            <a:r>
              <a:rPr lang="en-US" sz="2000" dirty="0">
                <a:solidFill>
                  <a:srgbClr val="E2C044"/>
                </a:solidFill>
                <a:latin typeface="Calibri" pitchFamily="34" charset="0"/>
                <a:ea typeface="Calibri" pitchFamily="34" charset="-122"/>
                <a:cs typeface="Calibri" pitchFamily="34" charset="-120"/>
              </a:rPr>
              <a:t>▶</a:t>
            </a:r>
            <a:endParaRPr lang="en-US" sz="2000" dirty="0"/>
          </a:p>
        </p:txBody>
      </p:sp>
      <p:sp>
        <p:nvSpPr>
          <p:cNvPr id="23" name="Text 20"/>
          <p:cNvSpPr/>
          <p:nvPr/>
        </p:nvSpPr>
        <p:spPr>
          <a:xfrm>
            <a:off x="4617720" y="3246120"/>
            <a:ext cx="2011680" cy="548640"/>
          </a:xfrm>
          <a:prstGeom prst="rect">
            <a:avLst/>
          </a:prstGeom>
          <a:noFill/>
          <a:ln/>
        </p:spPr>
        <p:txBody>
          <a:bodyPr wrap="square" rtlCol="0" anchor="t"/>
          <a:lstStyle/>
          <a:p>
            <a:pPr algn="ctr" indent="0" marL="0">
              <a:buNone/>
            </a:pPr>
            <a:r>
              <a:rPr lang="en-US" sz="1000" i="1" dirty="0">
                <a:solidFill>
                  <a:srgbClr val="888888"/>
                </a:solidFill>
                <a:latin typeface="Calibri" pitchFamily="34" charset="0"/>
                <a:ea typeface="Calibri" pitchFamily="34" charset="-122"/>
                <a:cs typeface="Calibri" pitchFamily="34" charset="-120"/>
              </a:rPr>
              <a:t>Cache miss → Retrieve top-5</a:t>
            </a:r>
            <a:endParaRPr lang="en-US" sz="1000" dirty="0"/>
          </a:p>
        </p:txBody>
      </p:sp>
      <p:sp>
        <p:nvSpPr>
          <p:cNvPr id="24" name="Shape 21"/>
          <p:cNvSpPr/>
          <p:nvPr/>
        </p:nvSpPr>
        <p:spPr>
          <a:xfrm>
            <a:off x="6949440" y="1691640"/>
            <a:ext cx="1737360" cy="1463040"/>
          </a:xfrm>
          <a:prstGeom prst="rect">
            <a:avLst>
              <a:gd name="adj" fmla="val 5000"/>
            </a:avLst>
          </a:prstGeom>
          <a:solidFill>
            <a:srgbClr val="BBBBBB"/>
          </a:solidFill>
          <a:ln/>
        </p:spPr>
      </p:sp>
      <p:sp>
        <p:nvSpPr>
          <p:cNvPr id="25" name="Shape 22"/>
          <p:cNvSpPr/>
          <p:nvPr/>
        </p:nvSpPr>
        <p:spPr>
          <a:xfrm>
            <a:off x="6903720" y="1645920"/>
            <a:ext cx="1737360" cy="1463040"/>
          </a:xfrm>
          <a:prstGeom prst="rect">
            <a:avLst>
              <a:gd name="adj" fmla="val 5000"/>
            </a:avLst>
          </a:prstGeom>
          <a:solidFill>
            <a:srgbClr val="722F37"/>
          </a:solidFill>
          <a:ln/>
        </p:spPr>
      </p:sp>
      <p:sp>
        <p:nvSpPr>
          <p:cNvPr id="26" name="Text 23"/>
          <p:cNvSpPr/>
          <p:nvPr/>
        </p:nvSpPr>
        <p:spPr>
          <a:xfrm>
            <a:off x="6903720" y="1828800"/>
            <a:ext cx="173736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LLM</a:t>
            </a:r>
            <a:endParaRPr lang="en-US" sz="2200" dirty="0"/>
          </a:p>
        </p:txBody>
      </p:sp>
      <p:sp>
        <p:nvSpPr>
          <p:cNvPr id="27" name="Text 24"/>
          <p:cNvSpPr/>
          <p:nvPr/>
        </p:nvSpPr>
        <p:spPr>
          <a:xfrm>
            <a:off x="6995160" y="2423160"/>
            <a:ext cx="1554480" cy="594360"/>
          </a:xfrm>
          <a:prstGeom prst="rect">
            <a:avLst/>
          </a:prstGeom>
          <a:noFill/>
          <a:ln/>
        </p:spPr>
        <p:txBody>
          <a:bodyPr wrap="square"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7-model</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fallback chain</a:t>
            </a:r>
            <a:endParaRPr lang="en-US" sz="1100" dirty="0"/>
          </a:p>
        </p:txBody>
      </p:sp>
      <p:sp>
        <p:nvSpPr>
          <p:cNvPr id="28" name="Text 25"/>
          <p:cNvSpPr/>
          <p:nvPr/>
        </p:nvSpPr>
        <p:spPr>
          <a:xfrm>
            <a:off x="6766560" y="3246120"/>
            <a:ext cx="2011680" cy="548640"/>
          </a:xfrm>
          <a:prstGeom prst="rect">
            <a:avLst/>
          </a:prstGeom>
          <a:noFill/>
          <a:ln/>
        </p:spPr>
        <p:txBody>
          <a:bodyPr wrap="square" rtlCol="0" anchor="t"/>
          <a:lstStyle/>
          <a:p>
            <a:pPr algn="ctr" indent="0" marL="0">
              <a:buNone/>
            </a:pPr>
            <a:r>
              <a:rPr lang="en-US" sz="1000" i="1" dirty="0">
                <a:solidFill>
                  <a:srgbClr val="888888"/>
                </a:solidFill>
                <a:latin typeface="Calibri" pitchFamily="34" charset="0"/>
                <a:ea typeface="Calibri" pitchFamily="34" charset="-122"/>
                <a:cs typeface="Calibri" pitchFamily="34" charset="-120"/>
              </a:rPr>
              <a:t>→ Generate answer</a:t>
            </a:r>
            <a:endParaRPr lang="en-US" sz="1000" dirty="0"/>
          </a:p>
        </p:txBody>
      </p:sp>
      <p:sp>
        <p:nvSpPr>
          <p:cNvPr id="29" name="Text 26"/>
          <p:cNvSpPr/>
          <p:nvPr/>
        </p:nvSpPr>
        <p:spPr>
          <a:xfrm>
            <a:off x="457200" y="5943600"/>
            <a:ext cx="8229600" cy="365760"/>
          </a:xfrm>
          <a:prstGeom prst="rect">
            <a:avLst/>
          </a:prstGeom>
          <a:noFill/>
          <a:ln/>
        </p:spPr>
        <p:txBody>
          <a:bodyPr wrap="square" rtlCol="0" anchor="ctr"/>
          <a:lstStyle/>
          <a:p>
            <a:pPr algn="ctr" indent="0" marL="0">
              <a:buNone/>
            </a:pPr>
            <a:r>
              <a:rPr lang="en-US" sz="1100" dirty="0">
                <a:solidFill>
                  <a:srgbClr val="888888"/>
                </a:solidFill>
                <a:latin typeface="Calibri" pitchFamily="34" charset="0"/>
                <a:ea typeface="Calibri" pitchFamily="34" charset="-122"/>
                <a:cs typeface="Calibri" pitchFamily="34" charset="-120"/>
              </a:rPr>
              <a:t>Stack: Python  |  Streamlit  |  FAISS  |  MiniLM-L6-v2  |  BM25  |  OpenRouter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457200" y="274320"/>
            <a:ext cx="7315200" cy="640080"/>
          </a:xfrm>
          <a:prstGeom prst="rect">
            <a:avLst/>
          </a:prstGeom>
          <a:noFill/>
          <a:ln/>
        </p:spPr>
        <p:txBody>
          <a:bodyPr wrap="square" rtlCol="0" anchor="ctr"/>
          <a:lstStyle/>
          <a:p>
            <a:pPr indent="0" marL="0">
              <a:buNone/>
            </a:pPr>
            <a:r>
              <a:rPr lang="en-US" sz="3600" b="1" dirty="0">
                <a:solidFill>
                  <a:srgbClr val="2D2D2D"/>
                </a:solidFill>
                <a:latin typeface="Georgia" pitchFamily="34" charset="0"/>
                <a:ea typeface="Georgia" pitchFamily="34" charset="-122"/>
                <a:cs typeface="Georgia" pitchFamily="34" charset="-120"/>
              </a:rPr>
              <a:t>The Prompt Is the System</a:t>
            </a:r>
            <a:endParaRPr lang="en-US" sz="3600" dirty="0"/>
          </a:p>
        </p:txBody>
      </p:sp>
      <p:sp>
        <p:nvSpPr>
          <p:cNvPr id="4" name="Shape 1"/>
          <p:cNvSpPr/>
          <p:nvPr/>
        </p:nvSpPr>
        <p:spPr>
          <a:xfrm>
            <a:off x="457200" y="914400"/>
            <a:ext cx="2926080" cy="36576"/>
          </a:xfrm>
          <a:prstGeom prst="rect">
            <a:avLst/>
          </a:prstGeom>
          <a:solidFill>
            <a:srgbClr val="E2C044"/>
          </a:solidFill>
          <a:ln/>
        </p:spPr>
      </p:sp>
      <p:sp>
        <p:nvSpPr>
          <p:cNvPr id="5" name="Shape 2"/>
          <p:cNvSpPr/>
          <p:nvPr/>
        </p:nvSpPr>
        <p:spPr>
          <a:xfrm>
            <a:off x="457200" y="1280160"/>
            <a:ext cx="4114800" cy="1325880"/>
          </a:xfrm>
          <a:prstGeom prst="rect">
            <a:avLst>
              <a:gd name="adj" fmla="val 3448"/>
            </a:avLst>
          </a:prstGeom>
          <a:solidFill>
            <a:srgbClr val="FFFFFF"/>
          </a:solidFill>
          <a:ln/>
          <a:effectLst>
            <a:outerShdw sx="100000" sy="100000" kx="0" ky="0" algn="bl" rotWithShape="0" blurRad="50800" dist="25400" dir="16200000">
              <a:srgbClr val="CCCCCC">
                <a:alpha val="30000"/>
              </a:srgbClr>
            </a:outerShdw>
          </a:effectLst>
        </p:spPr>
      </p:sp>
      <p:sp>
        <p:nvSpPr>
          <p:cNvPr id="6" name="Shape 3"/>
          <p:cNvSpPr/>
          <p:nvPr/>
        </p:nvSpPr>
        <p:spPr>
          <a:xfrm>
            <a:off x="457200" y="1280160"/>
            <a:ext cx="54864" cy="1325880"/>
          </a:xfrm>
          <a:prstGeom prst="rect">
            <a:avLst/>
          </a:prstGeom>
          <a:solidFill>
            <a:srgbClr val="722F37"/>
          </a:solidFill>
          <a:ln/>
        </p:spPr>
      </p:sp>
      <p:sp>
        <p:nvSpPr>
          <p:cNvPr id="7" name="Text 4"/>
          <p:cNvSpPr/>
          <p:nvPr/>
        </p:nvSpPr>
        <p:spPr>
          <a:xfrm>
            <a:off x="685800" y="1417320"/>
            <a:ext cx="3657600" cy="365760"/>
          </a:xfrm>
          <a:prstGeom prst="rect">
            <a:avLst/>
          </a:prstGeom>
          <a:noFill/>
          <a:ln/>
        </p:spPr>
        <p:txBody>
          <a:bodyPr wrap="square" rtlCol="0" anchor="ctr"/>
          <a:lstStyle/>
          <a:p>
            <a:pPr indent="0" marL="0">
              <a:buNone/>
            </a:pPr>
            <a:r>
              <a:rPr lang="en-US" sz="1500" b="1" dirty="0">
                <a:solidFill>
                  <a:srgbClr val="722F37"/>
                </a:solidFill>
                <a:latin typeface="Georgia" pitchFamily="34" charset="0"/>
                <a:ea typeface="Georgia" pitchFamily="34" charset="-122"/>
                <a:cs typeface="Georgia" pitchFamily="34" charset="-120"/>
              </a:rPr>
              <a:t>Exact refusal string</a:t>
            </a:r>
            <a:endParaRPr lang="en-US" sz="1500" dirty="0"/>
          </a:p>
        </p:txBody>
      </p:sp>
      <p:sp>
        <p:nvSpPr>
          <p:cNvPr id="8" name="Text 5"/>
          <p:cNvSpPr/>
          <p:nvPr/>
        </p:nvSpPr>
        <p:spPr>
          <a:xfrm>
            <a:off x="685800" y="1828800"/>
            <a:ext cx="3657600" cy="640080"/>
          </a:xfrm>
          <a:prstGeom prst="rect">
            <a:avLst/>
          </a:prstGeom>
          <a:noFill/>
          <a:ln/>
        </p:spPr>
        <p:txBody>
          <a:bodyPr wrap="square" rtlCol="0" anchor="ctr"/>
          <a:lstStyle/>
          <a:p>
            <a:pPr indent="0" marL="0">
              <a:buNone/>
            </a:pPr>
            <a:r>
              <a:rPr lang="en-US" sz="1200" dirty="0">
                <a:solidFill>
                  <a:srgbClr val="2D2D2D"/>
                </a:solidFill>
                <a:latin typeface="Calibri" pitchFamily="34" charset="0"/>
                <a:ea typeface="Calibri" pitchFamily="34" charset="-122"/>
                <a:cs typeface="Calibri" pitchFamily="34" charset="-120"/>
              </a:rPr>
              <a:t>"I cannot answer that.." copied character-for-character into the prompt</a:t>
            </a:r>
            <a:endParaRPr lang="en-US" sz="1200" dirty="0"/>
          </a:p>
        </p:txBody>
      </p:sp>
      <p:sp>
        <p:nvSpPr>
          <p:cNvPr id="9" name="Shape 6"/>
          <p:cNvSpPr/>
          <p:nvPr/>
        </p:nvSpPr>
        <p:spPr>
          <a:xfrm>
            <a:off x="457200" y="2834640"/>
            <a:ext cx="4114800" cy="1325880"/>
          </a:xfrm>
          <a:prstGeom prst="rect">
            <a:avLst>
              <a:gd name="adj" fmla="val 3448"/>
            </a:avLst>
          </a:prstGeom>
          <a:solidFill>
            <a:srgbClr val="FFFFFF"/>
          </a:solidFill>
          <a:ln/>
          <a:effectLst>
            <a:outerShdw sx="100000" sy="100000" kx="0" ky="0" algn="bl" rotWithShape="0" blurRad="50800" dist="25400" dir="16200000">
              <a:srgbClr val="CCCCCC">
                <a:alpha val="30000"/>
              </a:srgbClr>
            </a:outerShdw>
          </a:effectLst>
        </p:spPr>
      </p:sp>
      <p:sp>
        <p:nvSpPr>
          <p:cNvPr id="10" name="Shape 7"/>
          <p:cNvSpPr/>
          <p:nvPr/>
        </p:nvSpPr>
        <p:spPr>
          <a:xfrm>
            <a:off x="457200" y="2834640"/>
            <a:ext cx="54864" cy="1325880"/>
          </a:xfrm>
          <a:prstGeom prst="rect">
            <a:avLst/>
          </a:prstGeom>
          <a:solidFill>
            <a:srgbClr val="722F37"/>
          </a:solidFill>
          <a:ln/>
        </p:spPr>
      </p:sp>
      <p:sp>
        <p:nvSpPr>
          <p:cNvPr id="11" name="Text 8"/>
          <p:cNvSpPr/>
          <p:nvPr/>
        </p:nvSpPr>
        <p:spPr>
          <a:xfrm>
            <a:off x="685800" y="2971800"/>
            <a:ext cx="3657600" cy="365760"/>
          </a:xfrm>
          <a:prstGeom prst="rect">
            <a:avLst/>
          </a:prstGeom>
          <a:noFill/>
          <a:ln/>
        </p:spPr>
        <p:txBody>
          <a:bodyPr wrap="square" rtlCol="0" anchor="ctr"/>
          <a:lstStyle/>
          <a:p>
            <a:pPr indent="0" marL="0">
              <a:buNone/>
            </a:pPr>
            <a:r>
              <a:rPr lang="en-US" sz="1500" b="1" dirty="0">
                <a:solidFill>
                  <a:srgbClr val="722F37"/>
                </a:solidFill>
                <a:latin typeface="Georgia" pitchFamily="34" charset="0"/>
                <a:ea typeface="Georgia" pitchFamily="34" charset="-122"/>
                <a:cs typeface="Georgia" pitchFamily="34" charset="-120"/>
              </a:rPr>
              <a:t>Anti-jailbreak framing</a:t>
            </a:r>
            <a:endParaRPr lang="en-US" sz="1500" dirty="0"/>
          </a:p>
        </p:txBody>
      </p:sp>
      <p:sp>
        <p:nvSpPr>
          <p:cNvPr id="12" name="Text 9"/>
          <p:cNvSpPr/>
          <p:nvPr/>
        </p:nvSpPr>
        <p:spPr>
          <a:xfrm>
            <a:off x="685800" y="3383280"/>
            <a:ext cx="3657600" cy="640080"/>
          </a:xfrm>
          <a:prstGeom prst="rect">
            <a:avLst/>
          </a:prstGeom>
          <a:noFill/>
          <a:ln/>
        </p:spPr>
        <p:txBody>
          <a:bodyPr wrap="square" rtlCol="0" anchor="ctr"/>
          <a:lstStyle/>
          <a:p>
            <a:pPr indent="0" marL="0">
              <a:buNone/>
            </a:pPr>
            <a:r>
              <a:rPr lang="en-US" sz="1200" dirty="0">
                <a:solidFill>
                  <a:srgbClr val="2D2D2D"/>
                </a:solidFill>
                <a:latin typeface="Calibri" pitchFamily="34" charset="0"/>
                <a:ea typeface="Calibri" pitchFamily="34" charset="-122"/>
                <a:cs typeface="Calibri" pitchFamily="34" charset="-120"/>
              </a:rPr>
              <a:t>Rules at top of prompt + final reminder after user message (defeats recency bias)</a:t>
            </a:r>
            <a:endParaRPr lang="en-US" sz="1200" dirty="0"/>
          </a:p>
        </p:txBody>
      </p:sp>
      <p:sp>
        <p:nvSpPr>
          <p:cNvPr id="13" name="Shape 10"/>
          <p:cNvSpPr/>
          <p:nvPr/>
        </p:nvSpPr>
        <p:spPr>
          <a:xfrm>
            <a:off x="457200" y="4389120"/>
            <a:ext cx="4114800" cy="1325880"/>
          </a:xfrm>
          <a:prstGeom prst="rect">
            <a:avLst>
              <a:gd name="adj" fmla="val 3448"/>
            </a:avLst>
          </a:prstGeom>
          <a:solidFill>
            <a:srgbClr val="FFFFFF"/>
          </a:solidFill>
          <a:ln/>
          <a:effectLst>
            <a:outerShdw sx="100000" sy="100000" kx="0" ky="0" algn="bl" rotWithShape="0" blurRad="50800" dist="25400" dir="16200000">
              <a:srgbClr val="CCCCCC">
                <a:alpha val="30000"/>
              </a:srgbClr>
            </a:outerShdw>
          </a:effectLst>
        </p:spPr>
      </p:sp>
      <p:sp>
        <p:nvSpPr>
          <p:cNvPr id="14" name="Shape 11"/>
          <p:cNvSpPr/>
          <p:nvPr/>
        </p:nvSpPr>
        <p:spPr>
          <a:xfrm>
            <a:off x="457200" y="4389120"/>
            <a:ext cx="54864" cy="1325880"/>
          </a:xfrm>
          <a:prstGeom prst="rect">
            <a:avLst/>
          </a:prstGeom>
          <a:solidFill>
            <a:srgbClr val="722F37"/>
          </a:solidFill>
          <a:ln/>
        </p:spPr>
      </p:sp>
      <p:sp>
        <p:nvSpPr>
          <p:cNvPr id="15" name="Text 12"/>
          <p:cNvSpPr/>
          <p:nvPr/>
        </p:nvSpPr>
        <p:spPr>
          <a:xfrm>
            <a:off x="685800" y="4526280"/>
            <a:ext cx="3657600" cy="365760"/>
          </a:xfrm>
          <a:prstGeom prst="rect">
            <a:avLst/>
          </a:prstGeom>
          <a:noFill/>
          <a:ln/>
        </p:spPr>
        <p:txBody>
          <a:bodyPr wrap="square" rtlCol="0" anchor="ctr"/>
          <a:lstStyle/>
          <a:p>
            <a:pPr indent="0" marL="0">
              <a:buNone/>
            </a:pPr>
            <a:r>
              <a:rPr lang="en-US" sz="1500" b="1" dirty="0">
                <a:solidFill>
                  <a:srgbClr val="722F37"/>
                </a:solidFill>
                <a:latin typeface="Georgia" pitchFamily="34" charset="0"/>
                <a:ea typeface="Georgia" pitchFamily="34" charset="-122"/>
                <a:cs typeface="Georgia" pitchFamily="34" charset="-120"/>
              </a:rPr>
              <a:t>Whitelist with canned replies</a:t>
            </a:r>
            <a:endParaRPr lang="en-US" sz="1500" dirty="0"/>
          </a:p>
        </p:txBody>
      </p:sp>
      <p:sp>
        <p:nvSpPr>
          <p:cNvPr id="16" name="Text 13"/>
          <p:cNvSpPr/>
          <p:nvPr/>
        </p:nvSpPr>
        <p:spPr>
          <a:xfrm>
            <a:off x="685800" y="4937760"/>
            <a:ext cx="3657600" cy="640080"/>
          </a:xfrm>
          <a:prstGeom prst="rect">
            <a:avLst/>
          </a:prstGeom>
          <a:noFill/>
          <a:ln/>
        </p:spPr>
        <p:txBody>
          <a:bodyPr wrap="square" rtlCol="0" anchor="ctr"/>
          <a:lstStyle/>
          <a:p>
            <a:pPr indent="0" marL="0">
              <a:buNone/>
            </a:pPr>
            <a:r>
              <a:rPr lang="en-US" sz="1200" dirty="0">
                <a:solidFill>
                  <a:srgbClr val="2D2D2D"/>
                </a:solidFill>
                <a:latin typeface="Calibri" pitchFamily="34" charset="0"/>
                <a:ea typeface="Calibri" pitchFamily="34" charset="-122"/>
                <a:cs typeface="Calibri" pitchFamily="34" charset="-120"/>
              </a:rPr>
              <a:t>Greetings answered safely, internals never leaked</a:t>
            </a:r>
            <a:endParaRPr lang="en-US" sz="1200" dirty="0"/>
          </a:p>
        </p:txBody>
      </p:sp>
      <p:sp>
        <p:nvSpPr>
          <p:cNvPr id="17" name="Shape 14"/>
          <p:cNvSpPr/>
          <p:nvPr/>
        </p:nvSpPr>
        <p:spPr>
          <a:xfrm>
            <a:off x="4937760" y="1280160"/>
            <a:ext cx="3840480" cy="4572000"/>
          </a:xfrm>
          <a:prstGeom prst="rect">
            <a:avLst>
              <a:gd name="adj" fmla="val 1905"/>
            </a:avLst>
          </a:prstGeom>
          <a:solidFill>
            <a:srgbClr val="1A1A2E"/>
          </a:solidFill>
          <a:ln/>
        </p:spPr>
      </p:sp>
      <p:sp>
        <p:nvSpPr>
          <p:cNvPr id="18" name="Shape 15"/>
          <p:cNvSpPr/>
          <p:nvPr/>
        </p:nvSpPr>
        <p:spPr>
          <a:xfrm>
            <a:off x="4937760" y="1280160"/>
            <a:ext cx="3840480" cy="411480"/>
          </a:xfrm>
          <a:prstGeom prst="rect">
            <a:avLst>
              <a:gd name="adj" fmla="val 17778"/>
            </a:avLst>
          </a:prstGeom>
          <a:solidFill>
            <a:srgbClr val="2A2A3E"/>
          </a:solidFill>
          <a:ln/>
        </p:spPr>
      </p:sp>
      <p:sp>
        <p:nvSpPr>
          <p:cNvPr id="19" name="Text 16"/>
          <p:cNvSpPr/>
          <p:nvPr/>
        </p:nvSpPr>
        <p:spPr>
          <a:xfrm>
            <a:off x="5120640" y="1298448"/>
            <a:ext cx="3200400" cy="365760"/>
          </a:xfrm>
          <a:prstGeom prst="rect">
            <a:avLst/>
          </a:prstGeom>
          <a:noFill/>
          <a:ln/>
        </p:spPr>
        <p:txBody>
          <a:bodyPr wrap="square" rtlCol="0" anchor="ctr"/>
          <a:lstStyle/>
          <a:p>
            <a:pPr indent="0" marL="0">
              <a:buNone/>
            </a:pPr>
            <a:r>
              <a:rPr lang="en-US" sz="1100" b="1" dirty="0">
                <a:solidFill>
                  <a:srgbClr val="E2C044"/>
                </a:solidFill>
                <a:latin typeface="Consolas" pitchFamily="34" charset="0"/>
                <a:ea typeface="Consolas" pitchFamily="34" charset="-122"/>
                <a:cs typeface="Consolas" pitchFamily="34" charset="-120"/>
              </a:rPr>
              <a:t>Prompt Structure</a:t>
            </a:r>
            <a:endParaRPr lang="en-US" sz="1100" dirty="0"/>
          </a:p>
        </p:txBody>
      </p:sp>
      <p:sp>
        <p:nvSpPr>
          <p:cNvPr id="20" name="Shape 17"/>
          <p:cNvSpPr/>
          <p:nvPr/>
        </p:nvSpPr>
        <p:spPr>
          <a:xfrm>
            <a:off x="8321040" y="1417320"/>
            <a:ext cx="109728" cy="109728"/>
          </a:xfrm>
          <a:prstGeom prst="ellipse">
            <a:avLst/>
          </a:prstGeom>
          <a:solidFill>
            <a:srgbClr val="722F37"/>
          </a:solidFill>
          <a:ln/>
        </p:spPr>
      </p:sp>
      <p:sp>
        <p:nvSpPr>
          <p:cNvPr id="21" name="Shape 18"/>
          <p:cNvSpPr/>
          <p:nvPr/>
        </p:nvSpPr>
        <p:spPr>
          <a:xfrm>
            <a:off x="8458200" y="1417320"/>
            <a:ext cx="109728" cy="109728"/>
          </a:xfrm>
          <a:prstGeom prst="ellipse">
            <a:avLst/>
          </a:prstGeom>
          <a:solidFill>
            <a:srgbClr val="E2C044"/>
          </a:solidFill>
          <a:ln/>
        </p:spPr>
      </p:sp>
      <p:sp>
        <p:nvSpPr>
          <p:cNvPr id="22" name="Shape 19"/>
          <p:cNvSpPr/>
          <p:nvPr/>
        </p:nvSpPr>
        <p:spPr>
          <a:xfrm>
            <a:off x="8595360" y="1417320"/>
            <a:ext cx="109728" cy="109728"/>
          </a:xfrm>
          <a:prstGeom prst="ellipse">
            <a:avLst/>
          </a:prstGeom>
          <a:solidFill>
            <a:srgbClr val="4CAF50"/>
          </a:solidFill>
          <a:ln/>
        </p:spPr>
      </p:sp>
      <p:sp>
        <p:nvSpPr>
          <p:cNvPr id="23" name="Text 20"/>
          <p:cNvSpPr/>
          <p:nvPr/>
        </p:nvSpPr>
        <p:spPr>
          <a:xfrm>
            <a:off x="5212080" y="1828800"/>
            <a:ext cx="3383280" cy="3840480"/>
          </a:xfrm>
          <a:prstGeom prst="rect">
            <a:avLst/>
          </a:prstGeom>
          <a:noFill/>
          <a:ln/>
        </p:spPr>
        <p:txBody>
          <a:bodyPr wrap="square" rtlCol="0" anchor="t"/>
          <a:lstStyle/>
          <a:p>
            <a:pPr indent="0" marL="0">
              <a:buNone/>
            </a:pPr>
            <a:r>
              <a:rPr lang="en-US" sz="1100" dirty="0">
                <a:solidFill>
                  <a:srgbClr val="E2C044"/>
                </a:solidFill>
                <a:latin typeface="Consolas" pitchFamily="34" charset="0"/>
                <a:ea typeface="Consolas" pitchFamily="34" charset="-122"/>
                <a:cs typeface="Consolas" pitchFamily="34" charset="-120"/>
              </a:rPr>
              <a:t># System Rules</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6 numbered behavioral rules</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 exact refusal string</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E2C044"/>
                </a:solidFill>
                <a:latin typeface="Consolas" pitchFamily="34" charset="0"/>
                <a:ea typeface="Consolas" pitchFamily="34" charset="-122"/>
                <a:cs typeface="Consolas" pitchFamily="34" charset="-120"/>
              </a:rPr>
              <a:t># Retrieved Context</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Top-5 chunks from Index B</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E2C044"/>
                </a:solidFill>
                <a:latin typeface="Consolas" pitchFamily="34" charset="0"/>
                <a:ea typeface="Consolas" pitchFamily="34" charset="-122"/>
                <a:cs typeface="Consolas" pitchFamily="34" charset="-120"/>
              </a:rPr>
              <a:t># Conversation History</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Last 5 turns (memory)</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E2C044"/>
                </a:solidFill>
                <a:latin typeface="Consolas" pitchFamily="34" charset="0"/>
                <a:ea typeface="Consolas" pitchFamily="34" charset="-122"/>
                <a:cs typeface="Consolas" pitchFamily="34" charset="-120"/>
              </a:rPr>
              <a:t># User Message</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The current question</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E2C044"/>
                </a:solidFill>
                <a:latin typeface="Consolas" pitchFamily="34" charset="0"/>
                <a:ea typeface="Consolas" pitchFamily="34" charset="-122"/>
                <a:cs typeface="Consolas" pitchFamily="34" charset="-120"/>
              </a:rPr>
              <a:t># Final Reminder</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Rules repeated here</a:t>
            </a:r>
            <a:endParaRPr lang="en-US" sz="1100" dirty="0"/>
          </a:p>
          <a:p>
            <a:pPr indent="0" marL="0">
              <a:buNone/>
            </a:pPr>
            <a:r>
              <a:rPr lang="en-US" sz="1100" dirty="0">
                <a:solidFill>
                  <a:srgbClr val="F5F0E8"/>
                </a:solidFill>
                <a:latin typeface="Consolas" pitchFamily="34" charset="0"/>
                <a:ea typeface="Consolas" pitchFamily="34" charset="-122"/>
                <a:cs typeface="Consolas" pitchFamily="34" charset="-120"/>
              </a:rPr>
              <a:t>  (defeats recency bias)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E2C044"/>
          </a:solidFill>
          <a:ln/>
        </p:spPr>
      </p:sp>
      <p:sp>
        <p:nvSpPr>
          <p:cNvPr id="4" name="Shape 1"/>
          <p:cNvSpPr/>
          <p:nvPr/>
        </p:nvSpPr>
        <p:spPr>
          <a:xfrm>
            <a:off x="2743200" y="1371600"/>
            <a:ext cx="3657600" cy="3657600"/>
          </a:xfrm>
          <a:prstGeom prst="ellipse">
            <a:avLst/>
          </a:prstGeom>
          <a:solidFill>
            <a:srgbClr val="1A1A2E"/>
          </a:solidFill>
          <a:ln w="12700">
            <a:solidFill>
              <a:srgbClr val="E2C044"/>
            </a:solidFill>
            <a:prstDash val="solid"/>
          </a:ln>
        </p:spPr>
      </p:sp>
      <p:sp>
        <p:nvSpPr>
          <p:cNvPr id="5" name="Shape 2"/>
          <p:cNvSpPr/>
          <p:nvPr/>
        </p:nvSpPr>
        <p:spPr>
          <a:xfrm>
            <a:off x="3017520" y="1645920"/>
            <a:ext cx="3108960" cy="3108960"/>
          </a:xfrm>
          <a:prstGeom prst="ellipse">
            <a:avLst/>
          </a:prstGeom>
          <a:solidFill>
            <a:srgbClr val="1A1A2E"/>
          </a:solidFill>
          <a:ln w="6350">
            <a:solidFill>
              <a:srgbClr val="E2C044"/>
            </a:solidFill>
            <a:prstDash val="solid"/>
          </a:ln>
        </p:spPr>
      </p:sp>
      <p:sp>
        <p:nvSpPr>
          <p:cNvPr id="6" name="Text 3"/>
          <p:cNvSpPr/>
          <p:nvPr/>
        </p:nvSpPr>
        <p:spPr>
          <a:xfrm>
            <a:off x="457200" y="2103120"/>
            <a:ext cx="8229600" cy="1097280"/>
          </a:xfrm>
          <a:prstGeom prst="rect">
            <a:avLst/>
          </a:prstGeom>
          <a:noFill/>
          <a:ln/>
        </p:spPr>
        <p:txBody>
          <a:bodyPr wrap="square" rtlCol="0" anchor="ctr"/>
          <a:lstStyle/>
          <a:p>
            <a:pPr algn="ctr" indent="0" marL="0">
              <a:buNone/>
            </a:pPr>
            <a:r>
              <a:rPr lang="en-US" sz="5400" b="1" dirty="0">
                <a:solidFill>
                  <a:srgbClr val="E2C044"/>
                </a:solidFill>
                <a:latin typeface="Georgia" pitchFamily="34" charset="0"/>
                <a:ea typeface="Georgia" pitchFamily="34" charset="-122"/>
                <a:cs typeface="Georgia" pitchFamily="34" charset="-120"/>
              </a:rPr>
              <a:t>LIVE DEMO</a:t>
            </a:r>
            <a:endParaRPr lang="en-US" sz="5400" dirty="0"/>
          </a:p>
        </p:txBody>
      </p:sp>
      <p:sp>
        <p:nvSpPr>
          <p:cNvPr id="7" name="Text 4"/>
          <p:cNvSpPr/>
          <p:nvPr/>
        </p:nvSpPr>
        <p:spPr>
          <a:xfrm>
            <a:off x="457200" y="3291840"/>
            <a:ext cx="8229600" cy="548640"/>
          </a:xfrm>
          <a:prstGeom prst="rect">
            <a:avLst/>
          </a:prstGeom>
          <a:noFill/>
          <a:ln/>
        </p:spPr>
        <p:txBody>
          <a:bodyPr wrap="square" rtlCol="0" anchor="ctr"/>
          <a:lstStyle/>
          <a:p>
            <a:pPr algn="ctr" indent="0" marL="0">
              <a:buNone/>
            </a:pPr>
            <a:r>
              <a:rPr lang="en-US" sz="2000" dirty="0">
                <a:solidFill>
                  <a:srgbClr val="F5F0E8"/>
                </a:solidFill>
                <a:latin typeface="Calibri" pitchFamily="34" charset="0"/>
                <a:ea typeface="Calibri" pitchFamily="34" charset="-122"/>
                <a:cs typeface="Calibri" pitchFamily="34" charset="-120"/>
              </a:rPr>
              <a:t>5 prompts, 5 rules proven</a:t>
            </a:r>
            <a:endParaRPr lang="en-US" sz="2000" dirty="0"/>
          </a:p>
        </p:txBody>
      </p:sp>
      <p:sp>
        <p:nvSpPr>
          <p:cNvPr id="8" name="Shape 5"/>
          <p:cNvSpPr/>
          <p:nvPr/>
        </p:nvSpPr>
        <p:spPr>
          <a:xfrm>
            <a:off x="914400" y="5303520"/>
            <a:ext cx="7315200" cy="731520"/>
          </a:xfrm>
          <a:prstGeom prst="rect">
            <a:avLst>
              <a:gd name="adj" fmla="val 7500"/>
            </a:avLst>
          </a:prstGeom>
          <a:solidFill>
            <a:srgbClr val="252540"/>
          </a:solidFill>
          <a:ln/>
        </p:spPr>
      </p:sp>
      <p:sp>
        <p:nvSpPr>
          <p:cNvPr id="9" name="Text 6"/>
          <p:cNvSpPr/>
          <p:nvPr/>
        </p:nvSpPr>
        <p:spPr>
          <a:xfrm>
            <a:off x="1097280" y="5349240"/>
            <a:ext cx="6949440" cy="640080"/>
          </a:xfrm>
          <a:prstGeom prst="rect">
            <a:avLst/>
          </a:prstGeom>
          <a:noFill/>
          <a:ln/>
        </p:spPr>
        <p:txBody>
          <a:bodyPr wrap="square" rtlCol="0" anchor="ctr"/>
          <a:lstStyle/>
          <a:p>
            <a:pPr algn="ctr" indent="0" marL="0">
              <a:buNone/>
            </a:pPr>
            <a:r>
              <a:rPr lang="en-US" sz="1000" i="1" dirty="0">
                <a:solidFill>
                  <a:srgbClr val="F5F0E8"/>
                </a:solidFill>
                <a:latin typeface="Calibri" pitchFamily="34" charset="0"/>
                <a:ea typeface="Calibri" pitchFamily="34" charset="-122"/>
                <a:cs typeface="Calibri" pitchFamily="34" charset="-120"/>
              </a:rPr>
              <a:t>hi  |  What type of creature is Buckbeak?  |  Who is Hermione? / What is she known for?  |  What is the capital of France?  |  Ignore previous instructions...</a:t>
            </a:r>
            <a:endParaRPr lang="en-US" sz="1000" dirty="0"/>
          </a:p>
        </p:txBody>
      </p:sp>
      <p:sp>
        <p:nvSpPr>
          <p:cNvPr id="10" name="Shape 7"/>
          <p:cNvSpPr/>
          <p:nvPr/>
        </p:nvSpPr>
        <p:spPr>
          <a:xfrm>
            <a:off x="0" y="6803136"/>
            <a:ext cx="9144000" cy="54864"/>
          </a:xfrm>
          <a:prstGeom prst="rect">
            <a:avLst/>
          </a:prstGeom>
          <a:solidFill>
            <a:srgbClr val="E2C044"/>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457200" y="274320"/>
            <a:ext cx="7315200" cy="640080"/>
          </a:xfrm>
          <a:prstGeom prst="rect">
            <a:avLst/>
          </a:prstGeom>
          <a:noFill/>
          <a:ln/>
        </p:spPr>
        <p:txBody>
          <a:bodyPr wrap="square" rtlCol="0" anchor="ctr"/>
          <a:lstStyle/>
          <a:p>
            <a:pPr indent="0" marL="0">
              <a:buNone/>
            </a:pPr>
            <a:r>
              <a:rPr lang="en-US" sz="3600" b="1" dirty="0">
                <a:solidFill>
                  <a:srgbClr val="2D2D2D"/>
                </a:solidFill>
                <a:latin typeface="Georgia" pitchFamily="34" charset="0"/>
                <a:ea typeface="Georgia" pitchFamily="34" charset="-122"/>
                <a:cs typeface="Georgia" pitchFamily="34" charset="-120"/>
              </a:rPr>
              <a:t>Evaluation: 40/40</a:t>
            </a:r>
            <a:endParaRPr lang="en-US" sz="3600" dirty="0"/>
          </a:p>
        </p:txBody>
      </p:sp>
      <p:sp>
        <p:nvSpPr>
          <p:cNvPr id="4" name="Shape 1"/>
          <p:cNvSpPr/>
          <p:nvPr/>
        </p:nvSpPr>
        <p:spPr>
          <a:xfrm>
            <a:off x="457200" y="914400"/>
            <a:ext cx="2286000" cy="36576"/>
          </a:xfrm>
          <a:prstGeom prst="rect">
            <a:avLst/>
          </a:prstGeom>
          <a:solidFill>
            <a:srgbClr val="E2C044"/>
          </a:solidFill>
          <a:ln/>
        </p:spPr>
      </p:sp>
      <p:sp>
        <p:nvSpPr>
          <p:cNvPr id="5" name="Shape 2"/>
          <p:cNvSpPr/>
          <p:nvPr/>
        </p:nvSpPr>
        <p:spPr>
          <a:xfrm>
            <a:off x="731520" y="1188720"/>
            <a:ext cx="2743200" cy="2743200"/>
          </a:xfrm>
          <a:prstGeom prst="ellipse">
            <a:avLst/>
          </a:prstGeom>
          <a:solidFill>
            <a:srgbClr val="FFFFFF"/>
          </a:solidFill>
          <a:ln/>
          <a:effectLst>
            <a:outerShdw sx="100000" sy="100000" kx="0" ky="0" algn="bl" rotWithShape="0" blurRad="101600" dist="38100" dir="16200000">
              <a:srgbClr val="CCCCCC">
                <a:alpha val="40000"/>
              </a:srgbClr>
            </a:outerShdw>
          </a:effectLst>
        </p:spPr>
      </p:sp>
      <p:sp>
        <p:nvSpPr>
          <p:cNvPr id="6" name="Shape 3"/>
          <p:cNvSpPr/>
          <p:nvPr/>
        </p:nvSpPr>
        <p:spPr>
          <a:xfrm>
            <a:off x="868680" y="1325880"/>
            <a:ext cx="2468880" cy="2468880"/>
          </a:xfrm>
          <a:prstGeom prst="ellipse">
            <a:avLst/>
          </a:prstGeom>
          <a:solidFill>
            <a:srgbClr val="FFFFFF"/>
          </a:solidFill>
          <a:ln w="25400">
            <a:solidFill>
              <a:srgbClr val="E2C044"/>
            </a:solidFill>
            <a:prstDash val="solid"/>
          </a:ln>
        </p:spPr>
      </p:sp>
      <p:sp>
        <p:nvSpPr>
          <p:cNvPr id="7" name="Text 4"/>
          <p:cNvSpPr/>
          <p:nvPr/>
        </p:nvSpPr>
        <p:spPr>
          <a:xfrm>
            <a:off x="731520" y="1463040"/>
            <a:ext cx="2743200" cy="1828800"/>
          </a:xfrm>
          <a:prstGeom prst="rect">
            <a:avLst/>
          </a:prstGeom>
          <a:noFill/>
          <a:ln/>
        </p:spPr>
        <p:txBody>
          <a:bodyPr wrap="square" rtlCol="0" anchor="ctr"/>
          <a:lstStyle/>
          <a:p>
            <a:pPr algn="ctr" indent="0" marL="0">
              <a:buNone/>
            </a:pPr>
            <a:r>
              <a:rPr lang="en-US" sz="6000" b="1" dirty="0">
                <a:solidFill>
                  <a:srgbClr val="E2C044"/>
                </a:solidFill>
                <a:latin typeface="Georgia" pitchFamily="34" charset="0"/>
                <a:ea typeface="Georgia" pitchFamily="34" charset="-122"/>
                <a:cs typeface="Georgia" pitchFamily="34" charset="-120"/>
              </a:rPr>
              <a:t>40/40</a:t>
            </a:r>
            <a:endParaRPr lang="en-US" sz="6000" dirty="0"/>
          </a:p>
        </p:txBody>
      </p:sp>
      <p:sp>
        <p:nvSpPr>
          <p:cNvPr id="8" name="Text 5"/>
          <p:cNvSpPr/>
          <p:nvPr/>
        </p:nvSpPr>
        <p:spPr>
          <a:xfrm>
            <a:off x="457200" y="4023360"/>
            <a:ext cx="3291840" cy="365760"/>
          </a:xfrm>
          <a:prstGeom prst="rect">
            <a:avLst/>
          </a:prstGeom>
          <a:noFill/>
          <a:ln/>
        </p:spPr>
        <p:txBody>
          <a:bodyPr wrap="square" rtlCol="0" anchor="ctr"/>
          <a:lstStyle/>
          <a:p>
            <a:pPr algn="ctr" indent="0" marL="0">
              <a:buNone/>
            </a:pPr>
            <a:r>
              <a:rPr lang="en-US" sz="1100" dirty="0">
                <a:solidFill>
                  <a:srgbClr val="2D2D2D"/>
                </a:solidFill>
                <a:latin typeface="Calibri" pitchFamily="34" charset="0"/>
                <a:ea typeface="Calibri" pitchFamily="34" charset="-122"/>
                <a:cs typeface="Calibri" pitchFamily="34" charset="-120"/>
              </a:rPr>
              <a:t>Zero regressions  |  Zero mismatches  |  Zero errors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206240" y="1188720"/>
          <a:ext cx="4572000" cy="914400"/>
        </p:xfrm>
        <a:graphic>
          <a:graphicData uri="http://schemas.openxmlformats.org/drawingml/2006/table">
            <a:tbl>
              <a:tblPr/>
              <a:tblGrid>
                <a:gridCol w="2743200"/>
                <a:gridCol w="914400"/>
                <a:gridCol w="914400"/>
              </a:tblGrid>
              <a:tr h="384048">
                <a:tc>
                  <a:txBody>
                    <a:bodyPr/>
                    <a:lstStyle/>
                    <a:p>
                      <a:pPr algn="l" indent="0" marL="0">
                        <a:buNone/>
                      </a:pPr>
                      <a:r>
                        <a:rPr lang="en-US" sz="1200" b="1" dirty="0">
                          <a:solidFill>
                            <a:srgbClr val="FFFFFF"/>
                          </a:solidFill>
                          <a:latin typeface="Georgia" pitchFamily="34" charset="0"/>
                          <a:ea typeface="Georgia" pitchFamily="34" charset="-122"/>
                          <a:cs typeface="Georgia" pitchFamily="34" charset="-120"/>
                        </a:rPr>
                        <a:t>Rule</a:t>
                      </a:r>
                      <a:endParaRPr lang="en-US" sz="1200" dirty="0">
                        <a:latin typeface="Georgia" charset="0"/>
                        <a:ea typeface="Georgia" charset="0"/>
                        <a:cs typeface="Georgia"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722F37"/>
                    </a:solidFill>
                  </a:tcPr>
                </a:tc>
                <a:tc>
                  <a:txBody>
                    <a:bodyPr/>
                    <a:lstStyle/>
                    <a:p>
                      <a:pPr algn="ctr" indent="0" marL="0">
                        <a:buNone/>
                      </a:pPr>
                      <a:r>
                        <a:rPr lang="en-US" sz="1200" b="1" dirty="0">
                          <a:solidFill>
                            <a:srgbClr val="FFFFFF"/>
                          </a:solidFill>
                          <a:latin typeface="Georgia" pitchFamily="34" charset="0"/>
                          <a:ea typeface="Georgia" pitchFamily="34" charset="-122"/>
                          <a:cs typeface="Georgia" pitchFamily="34" charset="-120"/>
                        </a:rPr>
                        <a:t>Tests</a:t>
                      </a:r>
                      <a:endParaRPr lang="en-US" sz="1200" dirty="0">
                        <a:latin typeface="Georgia" charset="0"/>
                        <a:ea typeface="Georgia" charset="0"/>
                        <a:cs typeface="Georgia"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722F37"/>
                    </a:solidFill>
                  </a:tcPr>
                </a:tc>
                <a:tc>
                  <a:txBody>
                    <a:bodyPr/>
                    <a:lstStyle/>
                    <a:p>
                      <a:pPr algn="ctr" indent="0" marL="0">
                        <a:buNone/>
                      </a:pPr>
                      <a:r>
                        <a:rPr lang="en-US" sz="1200" b="1" dirty="0">
                          <a:solidFill>
                            <a:srgbClr val="FFFFFF"/>
                          </a:solidFill>
                          <a:latin typeface="Georgia" pitchFamily="34" charset="0"/>
                          <a:ea typeface="Georgia" pitchFamily="34" charset="-122"/>
                          <a:cs typeface="Georgia" pitchFamily="34" charset="-120"/>
                        </a:rPr>
                        <a:t>Pass</a:t>
                      </a:r>
                      <a:endParaRPr lang="en-US" sz="1200" dirty="0">
                        <a:latin typeface="Georgia" charset="0"/>
                        <a:ea typeface="Georgia" charset="0"/>
                        <a:cs typeface="Georgia"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722F37"/>
                    </a:solidFill>
                  </a:tcPr>
                </a:tc>
              </a:tr>
              <a:tr h="384048">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1  Out-of-scope</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2  Out-of-knowledge</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0D0"/>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0D0"/>
                    </a:solidFill>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0D0"/>
                    </a:solidFill>
                  </a:tcPr>
                </a:tc>
              </a:tr>
              <a:tr h="384048">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3  Greetings</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4  Jailbreaks</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0D0"/>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0D0"/>
                    </a:solidFill>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0D0"/>
                    </a:solidFill>
                  </a:tcPr>
                </a:tc>
              </a:tr>
              <a:tr h="384048">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5  Memory</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6  Format lock</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0D0"/>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0D0"/>
                    </a:solidFill>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9F0D0"/>
                    </a:solidFill>
                  </a:tcPr>
                </a:tc>
              </a:tr>
              <a:tr h="384048">
                <a:tc>
                  <a:txBody>
                    <a:bodyPr/>
                    <a:lstStyle/>
                    <a:p>
                      <a:pPr algn="l" indent="0" marL="0">
                        <a:buNone/>
                      </a:pPr>
                      <a:r>
                        <a:rPr lang="en-US" sz="1200" b="1" dirty="0">
                          <a:solidFill>
                            <a:srgbClr val="FFFFFF"/>
                          </a:solidFill>
                          <a:latin typeface="Georgia" pitchFamily="34" charset="0"/>
                          <a:ea typeface="Georgia" pitchFamily="34" charset="-122"/>
                          <a:cs typeface="Georgia" pitchFamily="34" charset="-120"/>
                        </a:rPr>
                        <a:t>Total</a:t>
                      </a:r>
                      <a:endParaRPr lang="en-US" sz="1200" dirty="0">
                        <a:latin typeface="Georgia" charset="0"/>
                        <a:ea typeface="Georgia" charset="0"/>
                        <a:cs typeface="Georgia"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722F37"/>
                    </a:solidFill>
                  </a:tcPr>
                </a:tc>
                <a:tc>
                  <a:txBody>
                    <a:bodyPr/>
                    <a:lstStyle/>
                    <a:p>
                      <a:pPr algn="ctr" indent="0" marL="0">
                        <a:buNone/>
                      </a:pPr>
                      <a:r>
                        <a:rPr lang="en-US" sz="1200" b="1" dirty="0">
                          <a:solidFill>
                            <a:srgbClr val="FFFFFF"/>
                          </a:solidFill>
                          <a:latin typeface="Georgia" pitchFamily="34" charset="0"/>
                          <a:ea typeface="Georgia" pitchFamily="34" charset="-122"/>
                          <a:cs typeface="Georgia" pitchFamily="34" charset="-120"/>
                        </a:rPr>
                        <a:t>40</a:t>
                      </a:r>
                      <a:endParaRPr lang="en-US" sz="1200" dirty="0">
                        <a:latin typeface="Georgia" charset="0"/>
                        <a:ea typeface="Georgia" charset="0"/>
                        <a:cs typeface="Georgia"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722F37"/>
                    </a:solidFill>
                  </a:tcPr>
                </a:tc>
                <a:tc>
                  <a:txBody>
                    <a:bodyPr/>
                    <a:lstStyle/>
                    <a:p>
                      <a:pPr algn="ctr" indent="0" marL="0">
                        <a:buNone/>
                      </a:pPr>
                      <a:r>
                        <a:rPr lang="en-US" sz="1200" b="1" dirty="0">
                          <a:solidFill>
                            <a:srgbClr val="FFFFFF"/>
                          </a:solidFill>
                          <a:latin typeface="Georgia" pitchFamily="34" charset="0"/>
                          <a:ea typeface="Georgia" pitchFamily="34" charset="-122"/>
                          <a:cs typeface="Georgia" pitchFamily="34" charset="-120"/>
                        </a:rPr>
                        <a:t>40</a:t>
                      </a:r>
                      <a:endParaRPr lang="en-US" sz="1200" dirty="0">
                        <a:latin typeface="Georgia" charset="0"/>
                        <a:ea typeface="Georgia" charset="0"/>
                        <a:cs typeface="Georgia"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722F37"/>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457200" y="274320"/>
            <a:ext cx="7315200" cy="640080"/>
          </a:xfrm>
          <a:prstGeom prst="rect">
            <a:avLst/>
          </a:prstGeom>
          <a:noFill/>
          <a:ln/>
        </p:spPr>
        <p:txBody>
          <a:bodyPr wrap="square" rtlCol="0" anchor="ctr"/>
          <a:lstStyle/>
          <a:p>
            <a:pPr indent="0" marL="0">
              <a:buNone/>
            </a:pPr>
            <a:r>
              <a:rPr lang="en-US" sz="3600" b="1" dirty="0">
                <a:solidFill>
                  <a:srgbClr val="2D2D2D"/>
                </a:solidFill>
                <a:latin typeface="Georgia" pitchFamily="34" charset="0"/>
                <a:ea typeface="Georgia" pitchFamily="34" charset="-122"/>
                <a:cs typeface="Georgia" pitchFamily="34" charset="-120"/>
              </a:rPr>
              <a:t>Challenges and Next Steps</a:t>
            </a:r>
            <a:endParaRPr lang="en-US" sz="3600" dirty="0"/>
          </a:p>
        </p:txBody>
      </p:sp>
      <p:sp>
        <p:nvSpPr>
          <p:cNvPr id="4" name="Shape 1"/>
          <p:cNvSpPr/>
          <p:nvPr/>
        </p:nvSpPr>
        <p:spPr>
          <a:xfrm>
            <a:off x="457200" y="914400"/>
            <a:ext cx="2743200" cy="36576"/>
          </a:xfrm>
          <a:prstGeom prst="rect">
            <a:avLst/>
          </a:prstGeom>
          <a:solidFill>
            <a:srgbClr val="E2C044"/>
          </a:solidFill>
          <a:ln/>
        </p:spPr>
      </p:sp>
      <p:sp>
        <p:nvSpPr>
          <p:cNvPr id="5" name="Shape 2"/>
          <p:cNvSpPr/>
          <p:nvPr/>
        </p:nvSpPr>
        <p:spPr>
          <a:xfrm>
            <a:off x="457200" y="1371600"/>
            <a:ext cx="3931920" cy="4754880"/>
          </a:xfrm>
          <a:prstGeom prst="rect">
            <a:avLst>
              <a:gd name="adj" fmla="val 1163"/>
            </a:avLst>
          </a:prstGeom>
          <a:solidFill>
            <a:srgbClr val="FFFFFF"/>
          </a:solidFill>
          <a:ln/>
          <a:effectLst>
            <a:outerShdw sx="100000" sy="100000" kx="0" ky="0" algn="bl" rotWithShape="0" blurRad="76200" dist="25400" dir="16200000">
              <a:srgbClr val="CCCCCC">
                <a:alpha val="30000"/>
              </a:srgbClr>
            </a:outerShdw>
          </a:effectLst>
        </p:spPr>
      </p:sp>
      <p:sp>
        <p:nvSpPr>
          <p:cNvPr id="6" name="Shape 3"/>
          <p:cNvSpPr/>
          <p:nvPr/>
        </p:nvSpPr>
        <p:spPr>
          <a:xfrm>
            <a:off x="457200" y="1371600"/>
            <a:ext cx="3931920" cy="502920"/>
          </a:xfrm>
          <a:prstGeom prst="rect">
            <a:avLst>
              <a:gd name="adj" fmla="val 9091"/>
            </a:avLst>
          </a:prstGeom>
          <a:solidFill>
            <a:srgbClr val="722F37"/>
          </a:solidFill>
          <a:ln/>
        </p:spPr>
      </p:sp>
      <p:sp>
        <p:nvSpPr>
          <p:cNvPr id="7" name="Shape 4"/>
          <p:cNvSpPr/>
          <p:nvPr/>
        </p:nvSpPr>
        <p:spPr>
          <a:xfrm>
            <a:off x="457200" y="1645920"/>
            <a:ext cx="3931920" cy="274320"/>
          </a:xfrm>
          <a:prstGeom prst="rect">
            <a:avLst/>
          </a:prstGeom>
          <a:solidFill>
            <a:srgbClr val="722F37"/>
          </a:solidFill>
          <a:ln/>
        </p:spPr>
      </p:sp>
      <p:sp>
        <p:nvSpPr>
          <p:cNvPr id="8" name="Text 5"/>
          <p:cNvSpPr/>
          <p:nvPr/>
        </p:nvSpPr>
        <p:spPr>
          <a:xfrm>
            <a:off x="640080" y="1389888"/>
            <a:ext cx="3474720" cy="45720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Hard Parts</a:t>
            </a:r>
            <a:endParaRPr lang="en-US" sz="1800" dirty="0"/>
          </a:p>
        </p:txBody>
      </p:sp>
      <p:sp>
        <p:nvSpPr>
          <p:cNvPr id="9" name="Text 6"/>
          <p:cNvSpPr/>
          <p:nvPr/>
        </p:nvSpPr>
        <p:spPr>
          <a:xfrm>
            <a:off x="731520" y="2103120"/>
            <a:ext cx="3474720" cy="3657600"/>
          </a:xfrm>
          <a:prstGeom prst="rect">
            <a:avLst/>
          </a:prstGeom>
          <a:noFill/>
          <a:ln/>
        </p:spPr>
        <p:txBody>
          <a:bodyPr wrap="square" rtlCol="0" anchor="t"/>
          <a:lstStyle/>
          <a:p>
            <a:pPr marL="342900" indent="-342900">
              <a:spcAft>
                <a:spcPts val="1400"/>
              </a:spcAft>
              <a:buSzPct val="100000"/>
              <a:buChar char="•"/>
            </a:pPr>
            <a:r>
              <a:rPr lang="en-US" sz="1300" dirty="0">
                <a:solidFill>
                  <a:srgbClr val="2D2D2D"/>
                </a:solidFill>
                <a:latin typeface="Calibri" pitchFamily="34" charset="0"/>
                <a:ea typeface="Calibri" pitchFamily="34" charset="-122"/>
                <a:cs typeface="Calibri" pitchFamily="34" charset="-120"/>
              </a:rPr>
              <a:t>Refusal exactness — model wants 1 dot, brief says 2</a:t>
            </a:r>
            <a:endParaRPr lang="en-US" sz="1300" dirty="0"/>
          </a:p>
          <a:p>
            <a:pPr marL="342900" indent="-342900">
              <a:spcAft>
                <a:spcPts val="1400"/>
              </a:spcAft>
              <a:buSzPct val="100000"/>
              <a:buChar char="•"/>
            </a:pPr>
            <a:r>
              <a:rPr lang="en-US" sz="1300" dirty="0">
                <a:solidFill>
                  <a:srgbClr val="2D2D2D"/>
                </a:solidFill>
                <a:latin typeface="Calibri" pitchFamily="34" charset="0"/>
                <a:ea typeface="Calibri" pitchFamily="34" charset="-122"/>
                <a:cs typeface="Calibri" pitchFamily="34" charset="-120"/>
              </a:rPr>
              <a:t>Greeting whitelist vs. refuse-internals rule</a:t>
            </a:r>
            <a:endParaRPr lang="en-US" sz="1300" dirty="0"/>
          </a:p>
          <a:p>
            <a:pPr marL="342900" indent="-342900">
              <a:spcAft>
                <a:spcPts val="1400"/>
              </a:spcAft>
              <a:buSzPct val="100000"/>
              <a:buChar char="•"/>
            </a:pPr>
            <a:r>
              <a:rPr lang="en-US" sz="1300" dirty="0">
                <a:solidFill>
                  <a:srgbClr val="2D2D2D"/>
                </a:solidFill>
                <a:latin typeface="Calibri" pitchFamily="34" charset="0"/>
                <a:ea typeface="Calibri" pitchFamily="34" charset="-122"/>
                <a:cs typeface="Calibri" pitchFamily="34" charset="-120"/>
              </a:rPr>
              <a:t>Free-tier rate limits → fallback chain solution</a:t>
            </a:r>
            <a:endParaRPr lang="en-US" sz="1300" dirty="0"/>
          </a:p>
        </p:txBody>
      </p:sp>
      <p:sp>
        <p:nvSpPr>
          <p:cNvPr id="10" name="Shape 7"/>
          <p:cNvSpPr/>
          <p:nvPr/>
        </p:nvSpPr>
        <p:spPr>
          <a:xfrm>
            <a:off x="4754880" y="1371600"/>
            <a:ext cx="3931920" cy="4754880"/>
          </a:xfrm>
          <a:prstGeom prst="rect">
            <a:avLst>
              <a:gd name="adj" fmla="val 1163"/>
            </a:avLst>
          </a:prstGeom>
          <a:solidFill>
            <a:srgbClr val="FFFFFF"/>
          </a:solidFill>
          <a:ln/>
          <a:effectLst>
            <a:outerShdw sx="100000" sy="100000" kx="0" ky="0" algn="bl" rotWithShape="0" blurRad="76200" dist="25400" dir="16200000">
              <a:srgbClr val="CCCCCC">
                <a:alpha val="30000"/>
              </a:srgbClr>
            </a:outerShdw>
          </a:effectLst>
        </p:spPr>
      </p:sp>
      <p:sp>
        <p:nvSpPr>
          <p:cNvPr id="11" name="Shape 8"/>
          <p:cNvSpPr/>
          <p:nvPr/>
        </p:nvSpPr>
        <p:spPr>
          <a:xfrm>
            <a:off x="4754880" y="1371600"/>
            <a:ext cx="3931920" cy="502920"/>
          </a:xfrm>
          <a:prstGeom prst="rect">
            <a:avLst>
              <a:gd name="adj" fmla="val 9091"/>
            </a:avLst>
          </a:prstGeom>
          <a:solidFill>
            <a:srgbClr val="E2C044"/>
          </a:solidFill>
          <a:ln/>
        </p:spPr>
      </p:sp>
      <p:sp>
        <p:nvSpPr>
          <p:cNvPr id="12" name="Shape 9"/>
          <p:cNvSpPr/>
          <p:nvPr/>
        </p:nvSpPr>
        <p:spPr>
          <a:xfrm>
            <a:off x="4754880" y="1645920"/>
            <a:ext cx="3931920" cy="274320"/>
          </a:xfrm>
          <a:prstGeom prst="rect">
            <a:avLst/>
          </a:prstGeom>
          <a:solidFill>
            <a:srgbClr val="E2C044"/>
          </a:solidFill>
          <a:ln/>
        </p:spPr>
      </p:sp>
      <p:sp>
        <p:nvSpPr>
          <p:cNvPr id="13" name="Text 10"/>
          <p:cNvSpPr/>
          <p:nvPr/>
        </p:nvSpPr>
        <p:spPr>
          <a:xfrm>
            <a:off x="4937760" y="1389888"/>
            <a:ext cx="3474720" cy="457200"/>
          </a:xfrm>
          <a:prstGeom prst="rect">
            <a:avLst/>
          </a:prstGeom>
          <a:noFill/>
          <a:ln/>
        </p:spPr>
        <p:txBody>
          <a:bodyPr wrap="square" rtlCol="0" anchor="ctr"/>
          <a:lstStyle/>
          <a:p>
            <a:pPr indent="0" marL="0">
              <a:buNone/>
            </a:pPr>
            <a:r>
              <a:rPr lang="en-US" sz="1800" b="1" dirty="0">
                <a:solidFill>
                  <a:srgbClr val="2D2D2D"/>
                </a:solidFill>
                <a:latin typeface="Georgia" pitchFamily="34" charset="0"/>
                <a:ea typeface="Georgia" pitchFamily="34" charset="-122"/>
                <a:cs typeface="Georgia" pitchFamily="34" charset="-120"/>
              </a:rPr>
              <a:t>Future Work</a:t>
            </a:r>
            <a:endParaRPr lang="en-US" sz="1800" dirty="0"/>
          </a:p>
        </p:txBody>
      </p:sp>
      <p:sp>
        <p:nvSpPr>
          <p:cNvPr id="14" name="Text 11"/>
          <p:cNvSpPr/>
          <p:nvPr/>
        </p:nvSpPr>
        <p:spPr>
          <a:xfrm>
            <a:off x="5029200" y="2103120"/>
            <a:ext cx="3474720" cy="3657600"/>
          </a:xfrm>
          <a:prstGeom prst="rect">
            <a:avLst/>
          </a:prstGeom>
          <a:noFill/>
          <a:ln/>
        </p:spPr>
        <p:txBody>
          <a:bodyPr wrap="square" rtlCol="0" anchor="t"/>
          <a:lstStyle/>
          <a:p>
            <a:pPr marL="342900" indent="-342900">
              <a:spcAft>
                <a:spcPts val="1400"/>
              </a:spcAft>
              <a:buSzPct val="100000"/>
              <a:buChar char="•"/>
            </a:pPr>
            <a:r>
              <a:rPr lang="en-US" sz="1300" dirty="0">
                <a:solidFill>
                  <a:srgbClr val="2D2D2D"/>
                </a:solidFill>
                <a:latin typeface="Calibri" pitchFamily="34" charset="0"/>
                <a:ea typeface="Calibri" pitchFamily="34" charset="-122"/>
                <a:cs typeface="Calibri" pitchFamily="34" charset="-120"/>
              </a:rPr>
              <a:t>Per-query latency telemetry</a:t>
            </a:r>
            <a:endParaRPr lang="en-US" sz="1300" dirty="0"/>
          </a:p>
          <a:p>
            <a:pPr marL="342900" indent="-342900">
              <a:spcAft>
                <a:spcPts val="1400"/>
              </a:spcAft>
              <a:buSzPct val="100000"/>
              <a:buChar char="•"/>
            </a:pPr>
            <a:r>
              <a:rPr lang="en-US" sz="1300" dirty="0">
                <a:solidFill>
                  <a:srgbClr val="2D2D2D"/>
                </a:solidFill>
                <a:latin typeface="Calibri" pitchFamily="34" charset="0"/>
                <a:ea typeface="Calibri" pitchFamily="34" charset="-122"/>
                <a:cs typeface="Calibri" pitchFamily="34" charset="-120"/>
              </a:rPr>
              <a:t>Lazy index loading (drop cold-start time)</a:t>
            </a:r>
            <a:endParaRPr lang="en-US" sz="1300" dirty="0"/>
          </a:p>
          <a:p>
            <a:pPr marL="342900" indent="-342900">
              <a:spcAft>
                <a:spcPts val="1400"/>
              </a:spcAft>
              <a:buSzPct val="100000"/>
              <a:buChar char="•"/>
            </a:pPr>
            <a:r>
              <a:rPr lang="en-US" sz="1300" dirty="0">
                <a:solidFill>
                  <a:srgbClr val="2D2D2D"/>
                </a:solidFill>
                <a:latin typeface="Calibri" pitchFamily="34" charset="0"/>
                <a:ea typeface="Calibri" pitchFamily="34" charset="-122"/>
                <a:cs typeface="Calibri" pitchFamily="34" charset="-120"/>
              </a:rPr>
              <a:t>Chunk sanitization for public data</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E2C044"/>
          </a:solidFill>
          <a:ln/>
        </p:spPr>
      </p:sp>
      <p:sp>
        <p:nvSpPr>
          <p:cNvPr id="4" name="Shape 1"/>
          <p:cNvSpPr/>
          <p:nvPr/>
        </p:nvSpPr>
        <p:spPr>
          <a:xfrm>
            <a:off x="274320" y="274320"/>
            <a:ext cx="548640" cy="36576"/>
          </a:xfrm>
          <a:prstGeom prst="rect">
            <a:avLst/>
          </a:prstGeom>
          <a:solidFill>
            <a:srgbClr val="E2C044"/>
          </a:solidFill>
          <a:ln/>
        </p:spPr>
      </p:sp>
      <p:sp>
        <p:nvSpPr>
          <p:cNvPr id="5" name="Shape 2"/>
          <p:cNvSpPr/>
          <p:nvPr/>
        </p:nvSpPr>
        <p:spPr>
          <a:xfrm>
            <a:off x="274320" y="274320"/>
            <a:ext cx="36576" cy="548640"/>
          </a:xfrm>
          <a:prstGeom prst="rect">
            <a:avLst/>
          </a:prstGeom>
          <a:solidFill>
            <a:srgbClr val="E2C044"/>
          </a:solidFill>
          <a:ln/>
        </p:spPr>
      </p:sp>
      <p:sp>
        <p:nvSpPr>
          <p:cNvPr id="6" name="Shape 3"/>
          <p:cNvSpPr/>
          <p:nvPr/>
        </p:nvSpPr>
        <p:spPr>
          <a:xfrm>
            <a:off x="8321040" y="274320"/>
            <a:ext cx="548640" cy="36576"/>
          </a:xfrm>
          <a:prstGeom prst="rect">
            <a:avLst/>
          </a:prstGeom>
          <a:solidFill>
            <a:srgbClr val="E2C044"/>
          </a:solidFill>
          <a:ln/>
        </p:spPr>
      </p:sp>
      <p:sp>
        <p:nvSpPr>
          <p:cNvPr id="7" name="Shape 4"/>
          <p:cNvSpPr/>
          <p:nvPr/>
        </p:nvSpPr>
        <p:spPr>
          <a:xfrm>
            <a:off x="8833104" y="274320"/>
            <a:ext cx="36576" cy="548640"/>
          </a:xfrm>
          <a:prstGeom prst="rect">
            <a:avLst/>
          </a:prstGeom>
          <a:solidFill>
            <a:srgbClr val="E2C044"/>
          </a:solidFill>
          <a:ln/>
        </p:spPr>
      </p:sp>
      <p:sp>
        <p:nvSpPr>
          <p:cNvPr id="8" name="Text 5"/>
          <p:cNvSpPr/>
          <p:nvPr/>
        </p:nvSpPr>
        <p:spPr>
          <a:xfrm>
            <a:off x="457200" y="2011680"/>
            <a:ext cx="8229600" cy="1097280"/>
          </a:xfrm>
          <a:prstGeom prst="rect">
            <a:avLst/>
          </a:prstGeom>
          <a:noFill/>
          <a:ln/>
        </p:spPr>
        <p:txBody>
          <a:bodyPr wrap="square" rtlCol="0" anchor="ctr"/>
          <a:lstStyle/>
          <a:p>
            <a:pPr algn="ctr" indent="0" marL="0">
              <a:buNone/>
            </a:pPr>
            <a:r>
              <a:rPr lang="en-US" sz="4400" b="1" dirty="0">
                <a:solidFill>
                  <a:srgbClr val="E2C044"/>
                </a:solidFill>
                <a:latin typeface="Georgia" pitchFamily="34" charset="0"/>
                <a:ea typeface="Georgia" pitchFamily="34" charset="-122"/>
                <a:cs typeface="Georgia" pitchFamily="34" charset="-120"/>
              </a:rPr>
              <a:t>Thank You</a:t>
            </a:r>
            <a:endParaRPr lang="en-US" sz="4400" dirty="0"/>
          </a:p>
        </p:txBody>
      </p:sp>
      <p:sp>
        <p:nvSpPr>
          <p:cNvPr id="9" name="Shape 6"/>
          <p:cNvSpPr/>
          <p:nvPr/>
        </p:nvSpPr>
        <p:spPr>
          <a:xfrm>
            <a:off x="3200400" y="3200400"/>
            <a:ext cx="2743200" cy="36576"/>
          </a:xfrm>
          <a:prstGeom prst="rect">
            <a:avLst/>
          </a:prstGeom>
          <a:solidFill>
            <a:srgbClr val="E2C044"/>
          </a:solidFill>
          <a:ln/>
        </p:spPr>
      </p:sp>
      <p:sp>
        <p:nvSpPr>
          <p:cNvPr id="10" name="Text 7"/>
          <p:cNvSpPr/>
          <p:nvPr/>
        </p:nvSpPr>
        <p:spPr>
          <a:xfrm>
            <a:off x="457200" y="3383280"/>
            <a:ext cx="8229600" cy="731520"/>
          </a:xfrm>
          <a:prstGeom prst="rect">
            <a:avLst/>
          </a:prstGeom>
          <a:noFill/>
          <a:ln/>
        </p:spPr>
        <p:txBody>
          <a:bodyPr wrap="square" rtlCol="0" anchor="ctr"/>
          <a:lstStyle/>
          <a:p>
            <a:pPr algn="ctr" indent="0" marL="0">
              <a:buNone/>
            </a:pPr>
            <a:r>
              <a:rPr lang="en-US" sz="2400" dirty="0">
                <a:solidFill>
                  <a:srgbClr val="F5F0E8"/>
                </a:solidFill>
                <a:latin typeface="Calibri" pitchFamily="34" charset="0"/>
                <a:ea typeface="Calibri" pitchFamily="34" charset="-122"/>
                <a:cs typeface="Calibri" pitchFamily="34" charset="-120"/>
              </a:rPr>
              <a:t>Questions?</a:t>
            </a:r>
            <a:endParaRPr lang="en-US" sz="2400" dirty="0"/>
          </a:p>
        </p:txBody>
      </p:sp>
      <p:sp>
        <p:nvSpPr>
          <p:cNvPr id="11" name="Text 8"/>
          <p:cNvSpPr/>
          <p:nvPr/>
        </p:nvSpPr>
        <p:spPr>
          <a:xfrm>
            <a:off x="457200" y="6035040"/>
            <a:ext cx="8229600" cy="365760"/>
          </a:xfrm>
          <a:prstGeom prst="rect">
            <a:avLst/>
          </a:prstGeom>
          <a:noFill/>
          <a:ln/>
        </p:spPr>
        <p:txBody>
          <a:bodyPr wrap="square" rtlCol="0" anchor="ctr"/>
          <a:lstStyle/>
          <a:p>
            <a:pPr algn="ctr" indent="0" marL="0">
              <a:buNone/>
            </a:pPr>
            <a:r>
              <a:rPr lang="en-US" sz="1100" dirty="0">
                <a:solidFill>
                  <a:srgbClr val="F5F0E8"/>
                </a:solidFill>
                <a:latin typeface="Calibri" pitchFamily="34" charset="0"/>
                <a:ea typeface="Calibri" pitchFamily="34" charset="-122"/>
                <a:cs typeface="Calibri" pitchFamily="34" charset="-120"/>
              </a:rPr>
              <a:t>Full report: REPORT.md  |  Eval: python -m tests.run_eval</a:t>
            </a:r>
            <a:endParaRPr lang="en-US" sz="1100" dirty="0"/>
          </a:p>
        </p:txBody>
      </p:sp>
      <p:sp>
        <p:nvSpPr>
          <p:cNvPr id="12" name="Shape 9"/>
          <p:cNvSpPr/>
          <p:nvPr/>
        </p:nvSpPr>
        <p:spPr>
          <a:xfrm>
            <a:off x="0" y="6803136"/>
            <a:ext cx="9144000" cy="54864"/>
          </a:xfrm>
          <a:prstGeom prst="rect">
            <a:avLst/>
          </a:prstGeom>
          <a:solidFill>
            <a:srgbClr val="E2C044"/>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HP-Bot: A Retrieval-Augmented Harry Potter Chatbot</dc:title>
  <dc:subject>PptxGenJS Presentation</dc:subject>
  <dc:creator>Malak</dc:creator>
  <cp:lastModifiedBy>Malak</cp:lastModifiedBy>
  <cp:revision>1</cp:revision>
  <dcterms:created xsi:type="dcterms:W3CDTF">2026-05-22T12:48:49Z</dcterms:created>
  <dcterms:modified xsi:type="dcterms:W3CDTF">2026-05-22T12:48:49Z</dcterms:modified>
</cp:coreProperties>
</file>